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87" roundtripDataSignature="AMtx7mjXfFp/vx5XBw2qAXbyDbFRwW/w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3053D8-F2E8-46FC-99ED-9BDF6BD71B3F}">
  <a:tblStyle styleId="{4C3053D8-F2E8-46FC-99ED-9BDF6BD71B3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638527D8-53DD-441C-966B-7EFE04980C48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87" Type="http://customschemas.google.com/relationships/presentationmetadata" Target="meta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p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p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p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0" name="Google Shape;490;p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9" name="Google Shape;499;p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p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5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p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5" name="Google Shape;535;p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3" name="Google Shape;543;p5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p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7" name="Google Shape;557;p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5" name="Google Shape;575;p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4" name="Google Shape;584;p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3" name="Google Shape;593;p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2" name="Google Shape;602;p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0" name="Google Shape;610;p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8" name="Google Shape;618;p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7" name="Google Shape;627;p6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5" name="Google Shape;635;p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" name="Google Shape;644;p6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4" name="Google Shape;654;p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p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2" name="Google Shape;672;p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9" name="Google Shape;689;p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7" name="Google Shape;697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p7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4" name="Google Shape;714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3" name="Google Shape;723;p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1" name="Google Shape;731;p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9" name="Google Shape;739;p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6" name="Google Shape;746;p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4" name="Google Shape;754;p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2" name="Google Shape;762;p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0" name="Google Shape;770;p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0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0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20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1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21"/>
          <p:cNvSpPr txBox="1"/>
          <p:nvPr>
            <p:ph idx="12" type="sldNum"/>
          </p:nvPr>
        </p:nvSpPr>
        <p:spPr>
          <a:xfrm>
            <a:off x="8458200" y="4850606"/>
            <a:ext cx="5334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21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2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3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3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3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4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24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124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5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5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25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5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25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6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9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9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19"/>
          <p:cNvSpPr txBox="1"/>
          <p:nvPr/>
        </p:nvSpPr>
        <p:spPr>
          <a:xfrm>
            <a:off x="381000" y="4888706"/>
            <a:ext cx="713705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DataMites®. All Rights Reserved | www.datamites.com                    DATA SCIENCE FOUNDATION</a:t>
            </a:r>
            <a:endParaRPr b="1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5" name="Google Shape;15;p1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22857" y="4635049"/>
            <a:ext cx="1168743" cy="30247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5.jpg"/><Relationship Id="rId9" Type="http://schemas.openxmlformats.org/officeDocument/2006/relationships/image" Target="../media/image11.png"/><Relationship Id="rId5" Type="http://schemas.openxmlformats.org/officeDocument/2006/relationships/image" Target="../media/image29.png"/><Relationship Id="rId6" Type="http://schemas.openxmlformats.org/officeDocument/2006/relationships/image" Target="../media/image6.png"/><Relationship Id="rId7" Type="http://schemas.openxmlformats.org/officeDocument/2006/relationships/image" Target="../media/image3.jp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1.jp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Relationship Id="rId6" Type="http://schemas.openxmlformats.org/officeDocument/2006/relationships/image" Target="../media/image3.jpg"/><Relationship Id="rId7" Type="http://schemas.openxmlformats.org/officeDocument/2006/relationships/image" Target="../media/image9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9.png"/><Relationship Id="rId4" Type="http://schemas.openxmlformats.org/officeDocument/2006/relationships/image" Target="../media/image65.png"/><Relationship Id="rId5" Type="http://schemas.openxmlformats.org/officeDocument/2006/relationships/image" Target="../media/image61.png"/><Relationship Id="rId6" Type="http://schemas.openxmlformats.org/officeDocument/2006/relationships/image" Target="../media/image55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6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5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0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69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4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73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ctrTitle"/>
          </p:nvPr>
        </p:nvSpPr>
        <p:spPr>
          <a:xfrm>
            <a:off x="4263242" y="885825"/>
            <a:ext cx="4880758" cy="1495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3200">
                <a:solidFill>
                  <a:srgbClr val="7F7F7F"/>
                </a:solidFill>
              </a:rPr>
              <a:t>SQL</a:t>
            </a:r>
            <a:endParaRPr b="1" sz="3200">
              <a:solidFill>
                <a:srgbClr val="7F7F7F"/>
              </a:solidFill>
            </a:endParaRPr>
          </a:p>
        </p:txBody>
      </p:sp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 result for machine learning robot" id="52" name="Google Shape;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85825"/>
            <a:ext cx="449580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solidFill>
                  <a:srgbClr val="7F7F7F"/>
                </a:solidFill>
              </a:rPr>
              <a:t>DATABASE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58" name="Google Shape;58;p1"/>
          <p:cNvSpPr txBox="1"/>
          <p:nvPr>
            <p:ph idx="1" type="body"/>
          </p:nvPr>
        </p:nvSpPr>
        <p:spPr>
          <a:xfrm>
            <a:off x="148985" y="857788"/>
            <a:ext cx="6080168" cy="3304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7F7F7F"/>
                </a:solidFill>
              </a:rPr>
              <a:t>A database is an organized collection of data.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7F7F7F"/>
                </a:solidFill>
              </a:rPr>
              <a:t> For 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7F7F7F"/>
                </a:solidFill>
              </a:rPr>
              <a:t> A university database organizes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7F7F7F"/>
                </a:solidFill>
              </a:rPr>
              <a:t> the data about students, faculty, admin staff, etc.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5 Best Books to learn SQL and Database design in 2022 | by javinpaul |  Javarevisited | Medium" id="59" name="Google Shape;5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3933" y="857788"/>
            <a:ext cx="3160067" cy="259605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 txBox="1"/>
          <p:nvPr/>
        </p:nvSpPr>
        <p:spPr>
          <a:xfrm>
            <a:off x="7147035" y="2155816"/>
            <a:ext cx="1371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6474373" y="1935767"/>
            <a:ext cx="6726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type="title"/>
          </p:nvPr>
        </p:nvSpPr>
        <p:spPr>
          <a:xfrm>
            <a:off x="162990" y="184973"/>
            <a:ext cx="6963103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DBMS(Data Base Management System)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67" name="Google Shape;67;p2"/>
          <p:cNvSpPr txBox="1"/>
          <p:nvPr>
            <p:ph idx="1" type="body"/>
          </p:nvPr>
        </p:nvSpPr>
        <p:spPr>
          <a:xfrm>
            <a:off x="359258" y="931557"/>
            <a:ext cx="4346030" cy="952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6620"/>
              <a:buNone/>
            </a:pPr>
            <a:r>
              <a:rPr lang="en-US" sz="2100">
                <a:solidFill>
                  <a:srgbClr val="595959"/>
                </a:solidFill>
              </a:rPr>
              <a:t>The software which is used to manage databases  is called Database Management System. DBMS allows users to create ,read , update and delete data in database.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r>
              <a:t/>
            </a:r>
            <a:endParaRPr/>
          </a:p>
        </p:txBody>
      </p:sp>
      <p:pic>
        <p:nvPicPr>
          <p:cNvPr descr="Learn MySQL Tutorial - javatpoint"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5267" y="1053683"/>
            <a:ext cx="1330748" cy="87186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 txBox="1"/>
          <p:nvPr/>
        </p:nvSpPr>
        <p:spPr>
          <a:xfrm>
            <a:off x="410966" y="2243146"/>
            <a:ext cx="4346030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MySQL, Oracle, Microsoft SQL server, PostgreSQL  are the  popular commercial DBMS used in different applications.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racle | OEDBA" id="70" name="Google Shape;7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7863" y="1039091"/>
            <a:ext cx="920876" cy="737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b2 Database Replication | Open-source ETL | Airbyte" id="71" name="Google Shape;7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27904" y="1055772"/>
            <a:ext cx="1184795" cy="1184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44006" y="2466382"/>
            <a:ext cx="1570802" cy="48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9 Postgresql Icons - Free in SVG, PNG, ICO - IconScout" id="73" name="Google Shape;7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6464" y="3415073"/>
            <a:ext cx="840335" cy="840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icrosoft Sql Server Logo Vector SVG Icon - SVG Repo" id="74" name="Google Shape;74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31220" y="2135817"/>
            <a:ext cx="1184795" cy="871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 ADO.NET Provider - Visual Studio Marketplace" id="75" name="Google Shape;75;p2"/>
          <p:cNvPicPr preferRelativeResize="0"/>
          <p:nvPr/>
        </p:nvPicPr>
        <p:blipFill rotWithShape="1">
          <a:blip r:embed="rId9">
            <a:alphaModFix/>
          </a:blip>
          <a:srcRect b="33333" l="0" r="0" t="0"/>
          <a:stretch/>
        </p:blipFill>
        <p:spPr>
          <a:xfrm>
            <a:off x="5478875" y="3517217"/>
            <a:ext cx="1349029" cy="1307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7F7F7F"/>
                </a:solidFill>
              </a:rPr>
              <a:t>WHY DBMS? 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563385" y="1127924"/>
            <a:ext cx="3503314" cy="3163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Data Storage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Data abstraction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Controls data redundancy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Multi - user access and views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Security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pic>
        <p:nvPicPr>
          <p:cNvPr descr="Outline Data Security Vector Icon. Isolated Black Simple Line Element  Illustration from Big Data Concept Stock Vector - Illustration of cloud,  shield: 144322379" id="83" name="Google Shape;83;p3"/>
          <p:cNvPicPr preferRelativeResize="0"/>
          <p:nvPr/>
        </p:nvPicPr>
        <p:blipFill rotWithShape="1">
          <a:blip r:embed="rId3">
            <a:alphaModFix/>
          </a:blip>
          <a:srcRect b="36003" l="0" r="0" t="0"/>
          <a:stretch/>
        </p:blipFill>
        <p:spPr>
          <a:xfrm>
            <a:off x="5869513" y="2864099"/>
            <a:ext cx="2943411" cy="1719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w To Share An Access Database On Network For Multi-User Access" id="84" name="Google Shape;8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1808" y="855454"/>
            <a:ext cx="2275490" cy="18540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TaP Research Computing - Research Data Storage" id="85" name="Google Shape;8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40652" y="1233432"/>
            <a:ext cx="1728861" cy="1728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3200">
                <a:solidFill>
                  <a:srgbClr val="7F7F7F"/>
                </a:solidFill>
              </a:rPr>
              <a:t> DATA MODELS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92" name="Google Shape;92;p4"/>
          <p:cNvSpPr txBox="1"/>
          <p:nvPr>
            <p:ph idx="1" type="body"/>
          </p:nvPr>
        </p:nvSpPr>
        <p:spPr>
          <a:xfrm>
            <a:off x="351693" y="931318"/>
            <a:ext cx="4524703" cy="3304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1600">
                <a:solidFill>
                  <a:srgbClr val="595959"/>
                </a:solidFill>
              </a:rPr>
              <a:t>Data models define how the logical structure of a database  is modelled. 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Data models define how data is connected to each other ,how they are processed and stored inside the system.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93" name="Google Shape;93;p4"/>
          <p:cNvSpPr txBox="1"/>
          <p:nvPr>
            <p:ph idx="4294967295" type="sldNum"/>
          </p:nvPr>
        </p:nvSpPr>
        <p:spPr>
          <a:xfrm>
            <a:off x="8382000" y="4887913"/>
            <a:ext cx="762000" cy="236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2000"/>
              <a:t>‹#›</a:t>
            </a:fld>
            <a:endParaRPr sz="2000"/>
          </a:p>
        </p:txBody>
      </p:sp>
      <p:grpSp>
        <p:nvGrpSpPr>
          <p:cNvPr id="94" name="Google Shape;94;p4"/>
          <p:cNvGrpSpPr/>
          <p:nvPr/>
        </p:nvGrpSpPr>
        <p:grpSpPr>
          <a:xfrm>
            <a:off x="5157749" y="1037848"/>
            <a:ext cx="3634558" cy="2626665"/>
            <a:chOff x="0" y="106530"/>
            <a:chExt cx="3634558" cy="2626665"/>
          </a:xfrm>
        </p:grpSpPr>
        <p:sp>
          <p:nvSpPr>
            <p:cNvPr id="95" name="Google Shape;95;p4"/>
            <p:cNvSpPr/>
            <p:nvPr/>
          </p:nvSpPr>
          <p:spPr>
            <a:xfrm>
              <a:off x="0" y="253515"/>
              <a:ext cx="3634558" cy="3024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215620" y="106530"/>
              <a:ext cx="3008632" cy="35424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A0C94A"/>
                </a:gs>
                <a:gs pos="100000">
                  <a:srgbClr val="DBFF9C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4"/>
            <p:cNvSpPr txBox="1"/>
            <p:nvPr/>
          </p:nvSpPr>
          <p:spPr>
            <a:xfrm>
              <a:off x="232913" y="123823"/>
              <a:ext cx="2974046" cy="31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6150" spcFirstLastPara="1" rIns="961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Hierarchical Model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0" y="797835"/>
              <a:ext cx="3634558" cy="3024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9525">
              <a:solidFill>
                <a:srgbClr val="5AB46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181727" y="620715"/>
              <a:ext cx="3061933" cy="35424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CC158"/>
                </a:gs>
                <a:gs pos="100000">
                  <a:srgbClr val="A0FEA7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"/>
            <p:cNvSpPr txBox="1"/>
            <p:nvPr/>
          </p:nvSpPr>
          <p:spPr>
            <a:xfrm>
              <a:off x="199020" y="638008"/>
              <a:ext cx="3027347" cy="31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6150" spcFirstLastPara="1" rIns="961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 Model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0" y="1342155"/>
              <a:ext cx="3634558" cy="3024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9525">
              <a:solidFill>
                <a:srgbClr val="5DAEA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181727" y="1165035"/>
              <a:ext cx="3038170" cy="35424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0BAAE"/>
                </a:gs>
                <a:gs pos="100000">
                  <a:srgbClr val="A5F9EE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"/>
            <p:cNvSpPr txBox="1"/>
            <p:nvPr/>
          </p:nvSpPr>
          <p:spPr>
            <a:xfrm>
              <a:off x="199020" y="1182328"/>
              <a:ext cx="3003584" cy="31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6150" spcFirstLastPara="1" rIns="961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Entity Relationship Model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0" y="1886475"/>
              <a:ext cx="3634558" cy="3024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9525">
              <a:solidFill>
                <a:srgbClr val="6078A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181727" y="1709355"/>
              <a:ext cx="3029952" cy="35424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574B2"/>
                </a:gs>
                <a:gs pos="100000">
                  <a:srgbClr val="A9BBF3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"/>
            <p:cNvSpPr txBox="1"/>
            <p:nvPr/>
          </p:nvSpPr>
          <p:spPr>
            <a:xfrm>
              <a:off x="199020" y="1726648"/>
              <a:ext cx="2995366" cy="31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6150" spcFirstLastPara="1" rIns="961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Relational Model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0" y="2430795"/>
              <a:ext cx="3634558" cy="3024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9525">
              <a:solidFill>
                <a:srgbClr val="7F63A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181727" y="2253675"/>
              <a:ext cx="3060025" cy="35424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7E59AA"/>
                </a:gs>
                <a:gs pos="100000">
                  <a:srgbClr val="C6ADEC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"/>
            <p:cNvSpPr txBox="1"/>
            <p:nvPr/>
          </p:nvSpPr>
          <p:spPr>
            <a:xfrm>
              <a:off x="199020" y="2270968"/>
              <a:ext cx="3025439" cy="31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6150" spcFirstLastPara="1" rIns="961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SQL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362607" y="175987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3200">
                <a:solidFill>
                  <a:srgbClr val="7F7F7F"/>
                </a:solidFill>
              </a:rPr>
              <a:t>RELATIONAL MODEL 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362607" y="933080"/>
            <a:ext cx="4830716" cy="34630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595959"/>
                </a:solidFill>
              </a:rPr>
              <a:t>In this model , the data is organized in the form of two dimensional table. That means data is stored in the form of rows and columns.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For 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595959"/>
                </a:solidFill>
              </a:rPr>
              <a:t>The table here shows  “STUDENT DETAILS” with attributes such as Stu_Id, Name and Branch which has 5 records.</a:t>
            </a:r>
            <a:endParaRPr/>
          </a:p>
          <a:p>
            <a:pPr indent="-825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graphicFrame>
        <p:nvGraphicFramePr>
          <p:cNvPr id="117" name="Google Shape;117;p5"/>
          <p:cNvGraphicFramePr/>
          <p:nvPr/>
        </p:nvGraphicFramePr>
        <p:xfrm>
          <a:off x="5864771" y="12964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{4C3053D8-F2E8-46FC-99ED-9BDF6BD71B3F}</a:tableStyleId>
              </a:tblPr>
              <a:tblGrid>
                <a:gridCol w="972200"/>
                <a:gridCol w="972200"/>
                <a:gridCol w="972200"/>
              </a:tblGrid>
              <a:tr h="3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Stu_Id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Branch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</a:t>
                      </a:r>
                      <a:endParaRPr sz="18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8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CSE</a:t>
                      </a:r>
                      <a:endParaRPr sz="18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</a:t>
                      </a:r>
                      <a:endParaRPr sz="18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8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ECE</a:t>
                      </a:r>
                      <a:endParaRPr sz="18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</a:t>
                      </a:r>
                      <a:endParaRPr sz="18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Britto</a:t>
                      </a:r>
                      <a:endParaRPr sz="18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</a:t>
                      </a:r>
                      <a:endParaRPr sz="18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204</a:t>
                      </a:r>
                      <a:endParaRPr sz="18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Harry</a:t>
                      </a:r>
                      <a:endParaRPr sz="18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8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205</a:t>
                      </a:r>
                      <a:endParaRPr sz="18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Steve</a:t>
                      </a:r>
                      <a:endParaRPr sz="18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</a:t>
                      </a:r>
                      <a:endParaRPr sz="18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3200">
                <a:solidFill>
                  <a:srgbClr val="7F7F7F"/>
                </a:solidFill>
              </a:rPr>
              <a:t> </a:t>
            </a:r>
            <a:r>
              <a:rPr b="1" lang="en-US">
                <a:solidFill>
                  <a:srgbClr val="7F7F7F"/>
                </a:solidFill>
              </a:rPr>
              <a:t>RDBMS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524192" y="873613"/>
            <a:ext cx="3463159" cy="33962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7F7F7F"/>
                </a:solidFill>
              </a:rPr>
              <a:t>RDBMS is a program which is used to manage Relational databases in which data is stored in the form of rows and columns which can be easily retrieved ,managed and updated.</a:t>
            </a:r>
            <a:endParaRPr/>
          </a:p>
        </p:txBody>
      </p:sp>
      <p:pic>
        <p:nvPicPr>
          <p:cNvPr descr="Amazon RDS for MySQL – Amazon Web Services (AWS)"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9674" y="801533"/>
            <a:ext cx="1907262" cy="984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cle Logo For Website – Sybyl" id="126" name="Google Shape;12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022" y="1014001"/>
            <a:ext cx="1477892" cy="771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b2 Database Replication | Open-source ETL | Airbyte" id="127" name="Google Shape;12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1885" y="1837661"/>
            <a:ext cx="1103586" cy="1103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9 Postgresql Icons - Free in SVG, PNG, ICO - IconScout" id="128" name="Google Shape;12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7194" y="3108553"/>
            <a:ext cx="840335" cy="840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icrosoft Sql Server Logo Vector SVG Icon - SVG Repo" id="129" name="Google Shape;12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48677" y="1994947"/>
            <a:ext cx="1184795" cy="871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 ADO.NET Provider - Visual Studio Marketplace" id="130" name="Google Shape;130;p6"/>
          <p:cNvPicPr preferRelativeResize="0"/>
          <p:nvPr/>
        </p:nvPicPr>
        <p:blipFill rotWithShape="1">
          <a:blip r:embed="rId8">
            <a:alphaModFix/>
          </a:blip>
          <a:srcRect b="33333" l="0" r="0" t="0"/>
          <a:stretch/>
        </p:blipFill>
        <p:spPr>
          <a:xfrm>
            <a:off x="4811885" y="3304971"/>
            <a:ext cx="1349029" cy="1307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564488" y="152237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MySQL 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394140" y="779262"/>
            <a:ext cx="4177860" cy="3304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7F7F7F"/>
                </a:solidFill>
              </a:rPr>
              <a:t>MySQL is an open source relational database that uses structured query language to interact with databases.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7F7F7F"/>
                </a:solidFill>
              </a:rPr>
              <a:t>It stores data in the form of table and can be modified using SQL.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-1397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descr="MySQL-Logo.wine - Lintel Technologies Blog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3436" y="903890"/>
            <a:ext cx="3366482" cy="2240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362607" y="175987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WHY MySQL ? 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362607" y="919595"/>
            <a:ext cx="4177860" cy="3304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7F7F7F"/>
                </a:solidFill>
              </a:rPr>
              <a:t>Easy to use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7F7F7F"/>
                </a:solidFill>
              </a:rPr>
              <a:t>Cost effective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7F7F7F"/>
                </a:solidFill>
              </a:rPr>
              <a:t>Secured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7F7F7F"/>
                </a:solidFill>
              </a:rPr>
              <a:t>Platform-Friendly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-1397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descr="MySQL-Logo.wine - Lintel Technologies Blog"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8890" y="1126013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635739" y="175987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SQL</a:t>
            </a:r>
            <a:r>
              <a:rPr b="1" lang="en-US" sz="3200">
                <a:solidFill>
                  <a:srgbClr val="7F7F7F"/>
                </a:solidFill>
              </a:rPr>
              <a:t> 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362607" y="919595"/>
            <a:ext cx="7877503" cy="3304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SQL stands for Structured Query Language.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SQL is a database programming language designed for the retrieval and management of data in a relational database.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All relational database management systems like MySQL ,Oracle , MS Access and SQL server uses SQL as their standard database language.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445735" y="152237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3200">
                <a:solidFill>
                  <a:srgbClr val="7F7F7F"/>
                </a:solidFill>
              </a:rPr>
              <a:t>WHAT SQL DOES?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160" name="Google Shape;160;p10"/>
          <p:cNvSpPr txBox="1"/>
          <p:nvPr>
            <p:ph idx="1" type="body"/>
          </p:nvPr>
        </p:nvSpPr>
        <p:spPr>
          <a:xfrm>
            <a:off x="580696" y="919595"/>
            <a:ext cx="7982607" cy="3304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7F7F7F"/>
                </a:solidFill>
              </a:rPr>
              <a:t>SQL is used to create new databases and tables.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7F7F7F"/>
                </a:solidFill>
              </a:rPr>
              <a:t>SQL  execute queries against a database.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7F7F7F"/>
                </a:solidFill>
              </a:rPr>
              <a:t>SQL is used to retrieve, update and insert records into a database.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7F7F7F"/>
                </a:solidFill>
              </a:rPr>
              <a:t>SQL used to create stored procedures and views in a database.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7F7F7F"/>
                </a:solidFill>
              </a:rPr>
              <a:t>SQL can also set permissions on tables, procedures and views.</a:t>
            </a:r>
            <a:endParaRPr/>
          </a:p>
          <a:p>
            <a:pPr indent="-1397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-1397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type="title"/>
          </p:nvPr>
        </p:nvSpPr>
        <p:spPr>
          <a:xfrm>
            <a:off x="180871" y="164112"/>
            <a:ext cx="6530866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solidFill>
                  <a:srgbClr val="7F7F7F"/>
                </a:solidFill>
              </a:rPr>
              <a:t>SQL COMMANDS</a:t>
            </a:r>
            <a:endParaRPr b="1">
              <a:solidFill>
                <a:srgbClr val="7F7F7F"/>
              </a:solidFill>
            </a:endParaRPr>
          </a:p>
        </p:txBody>
      </p:sp>
      <p:pic>
        <p:nvPicPr>
          <p:cNvPr descr="Types of SQL Commands - javatpoint" id="166" name="Google Shape;16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4389" y="1123950"/>
            <a:ext cx="6861941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460649" y="164112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MySQL WORKBENCH 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460649" y="919595"/>
            <a:ext cx="5670331" cy="3304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7F7F7F"/>
                </a:solidFill>
              </a:rPr>
              <a:t>MySQL workbench is a Graphical tool developed by Oracle , which is used to work with MySQL server and databases.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7F7F7F"/>
                </a:solidFill>
              </a:rPr>
              <a:t>MySQL provides data modelling , SQL development and various administration tools for configuration.</a:t>
            </a:r>
            <a:endParaRPr/>
          </a:p>
          <a:p>
            <a:pPr indent="-1397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descr="MySQL Workbench Database Administration | Database Consulting | Quintet" id="174" name="Google Shape;17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0980" y="1410522"/>
            <a:ext cx="2809875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type="title"/>
          </p:nvPr>
        </p:nvSpPr>
        <p:spPr>
          <a:xfrm>
            <a:off x="444669" y="152237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CREATE DATABASE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444669" y="944976"/>
            <a:ext cx="5670331" cy="730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CREATE DATABASE </a:t>
            </a:r>
            <a:r>
              <a:rPr lang="en-US" sz="1600">
                <a:solidFill>
                  <a:srgbClr val="595959"/>
                </a:solidFill>
              </a:rPr>
              <a:t>&lt;database name&gt;: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pic>
        <p:nvPicPr>
          <p:cNvPr id="182" name="Google Shape;182;p13"/>
          <p:cNvPicPr preferRelativeResize="0"/>
          <p:nvPr/>
        </p:nvPicPr>
        <p:blipFill rotWithShape="1">
          <a:blip r:embed="rId3">
            <a:alphaModFix/>
          </a:blip>
          <a:srcRect b="52823" l="22209" r="21556" t="25461"/>
          <a:stretch/>
        </p:blipFill>
        <p:spPr>
          <a:xfrm>
            <a:off x="444669" y="2351715"/>
            <a:ext cx="7386454" cy="140624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457610" y="128486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DROP DATABASE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362607" y="1019746"/>
            <a:ext cx="5670331" cy="726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DROP DATABASE </a:t>
            </a:r>
            <a:r>
              <a:rPr lang="en-US" sz="1600">
                <a:solidFill>
                  <a:srgbClr val="595959"/>
                </a:solidFill>
              </a:rPr>
              <a:t>&lt;database name&gt;: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pic>
        <p:nvPicPr>
          <p:cNvPr id="190" name="Google Shape;190;p14"/>
          <p:cNvPicPr preferRelativeResize="0"/>
          <p:nvPr/>
        </p:nvPicPr>
        <p:blipFill rotWithShape="1">
          <a:blip r:embed="rId3">
            <a:alphaModFix/>
          </a:blip>
          <a:srcRect b="54056" l="22078" r="23376" t="26310"/>
          <a:stretch/>
        </p:blipFill>
        <p:spPr>
          <a:xfrm>
            <a:off x="457610" y="2571749"/>
            <a:ext cx="7617611" cy="143153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 txBox="1"/>
          <p:nvPr>
            <p:ph type="title"/>
          </p:nvPr>
        </p:nvSpPr>
        <p:spPr>
          <a:xfrm>
            <a:off x="362607" y="140361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SHOW DATABASE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197" name="Google Shape;197;p15"/>
          <p:cNvSpPr txBox="1"/>
          <p:nvPr>
            <p:ph idx="1" type="body"/>
          </p:nvPr>
        </p:nvSpPr>
        <p:spPr>
          <a:xfrm>
            <a:off x="362607" y="959211"/>
            <a:ext cx="5670331" cy="904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SHOW DATABASES:</a:t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pic>
        <p:nvPicPr>
          <p:cNvPr id="198" name="Google Shape;198;p15"/>
          <p:cNvPicPr preferRelativeResize="0"/>
          <p:nvPr/>
        </p:nvPicPr>
        <p:blipFill rotWithShape="1">
          <a:blip r:embed="rId3">
            <a:alphaModFix/>
          </a:blip>
          <a:srcRect b="65820" l="7690" r="38718" t="21639"/>
          <a:stretch/>
        </p:blipFill>
        <p:spPr>
          <a:xfrm>
            <a:off x="569839" y="2571750"/>
            <a:ext cx="8265578" cy="1073393"/>
          </a:xfrm>
          <a:prstGeom prst="rect">
            <a:avLst/>
          </a:prstGeom>
          <a:solidFill>
            <a:srgbClr val="ECECEC"/>
          </a:solidFill>
          <a:ln cap="sq" cmpd="sng" w="1905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 txBox="1"/>
          <p:nvPr>
            <p:ph type="title"/>
          </p:nvPr>
        </p:nvSpPr>
        <p:spPr>
          <a:xfrm>
            <a:off x="362607" y="175987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TABLE</a:t>
            </a:r>
            <a:r>
              <a:rPr b="1" lang="en-US" sz="3200">
                <a:solidFill>
                  <a:srgbClr val="7F7F7F"/>
                </a:solidFill>
              </a:rPr>
              <a:t> 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205" name="Google Shape;205;p16"/>
          <p:cNvSpPr txBox="1"/>
          <p:nvPr>
            <p:ph idx="1" type="body"/>
          </p:nvPr>
        </p:nvSpPr>
        <p:spPr>
          <a:xfrm>
            <a:off x="362607" y="1025447"/>
            <a:ext cx="4514193" cy="3304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700">
                <a:solidFill>
                  <a:srgbClr val="7F7F7F"/>
                </a:solidFill>
              </a:rPr>
              <a:t>SQL table is a collection of data which is organized in rows and columns. Each row represents unique record and each column represents field in the record.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7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7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Here is a table which contains employee data in which  row represents each employee and column represents employee information such as employee number, name, designation and age.</a:t>
            </a:r>
            <a:endParaRPr sz="2200"/>
          </a:p>
        </p:txBody>
      </p:sp>
      <p:pic>
        <p:nvPicPr>
          <p:cNvPr id="206" name="Google Shape;206;p16"/>
          <p:cNvPicPr preferRelativeResize="0"/>
          <p:nvPr/>
        </p:nvPicPr>
        <p:blipFill rotWithShape="1">
          <a:blip r:embed="rId3">
            <a:alphaModFix/>
          </a:blip>
          <a:srcRect b="12747" l="6120" r="23996" t="45714"/>
          <a:stretch/>
        </p:blipFill>
        <p:spPr>
          <a:xfrm>
            <a:off x="4943161" y="1025446"/>
            <a:ext cx="3811837" cy="1729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 txBox="1"/>
          <p:nvPr>
            <p:ph type="title"/>
          </p:nvPr>
        </p:nvSpPr>
        <p:spPr>
          <a:xfrm>
            <a:off x="362607" y="239681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CREATE TABLE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213" name="Google Shape;213;p17"/>
          <p:cNvSpPr txBox="1"/>
          <p:nvPr>
            <p:ph idx="1" type="body"/>
          </p:nvPr>
        </p:nvSpPr>
        <p:spPr>
          <a:xfrm>
            <a:off x="362607" y="1169016"/>
            <a:ext cx="5771796" cy="2284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03497"/>
              <a:buNone/>
            </a:pPr>
            <a:r>
              <a:rPr b="1" lang="en-US" sz="1700">
                <a:solidFill>
                  <a:srgbClr val="7F7F7F"/>
                </a:solidFill>
              </a:rPr>
              <a:t>CREATE TABLE </a:t>
            </a:r>
            <a:r>
              <a:rPr lang="en-US" sz="1700">
                <a:solidFill>
                  <a:srgbClr val="595959"/>
                </a:solidFill>
              </a:rPr>
              <a:t>&lt; table name &gt;  (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03497"/>
              <a:buNone/>
            </a:pPr>
            <a:r>
              <a:rPr lang="en-US" sz="1700">
                <a:solidFill>
                  <a:srgbClr val="595959"/>
                </a:solidFill>
              </a:rPr>
              <a:t>  &lt; column1&gt; &lt;data type&gt; ,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03497"/>
              <a:buNone/>
            </a:pPr>
            <a:r>
              <a:rPr lang="en-US" sz="1700">
                <a:solidFill>
                  <a:srgbClr val="595959"/>
                </a:solidFill>
              </a:rPr>
              <a:t>  &lt; column1&gt; &lt;data type&gt; ,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03497"/>
              <a:buNone/>
            </a:pPr>
            <a:r>
              <a:rPr lang="en-US" sz="1700">
                <a:solidFill>
                  <a:srgbClr val="595959"/>
                </a:solidFill>
              </a:rPr>
              <a:t>  &lt; column1&gt; &lt;data type&gt; ,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03497"/>
              <a:buNone/>
            </a:pPr>
            <a:r>
              <a:rPr lang="en-US" sz="1700">
                <a:solidFill>
                  <a:srgbClr val="595959"/>
                </a:solidFill>
              </a:rPr>
              <a:t>…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03497"/>
              <a:buNone/>
            </a:pPr>
            <a:r>
              <a:rPr lang="en-US" sz="1700">
                <a:solidFill>
                  <a:srgbClr val="595959"/>
                </a:solidFill>
              </a:rPr>
              <a:t>) ;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-US">
                <a:solidFill>
                  <a:srgbClr val="595959"/>
                </a:solidFill>
              </a:rPr>
              <a:t>  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92192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214" name="Google Shape;214;p17"/>
          <p:cNvPicPr preferRelativeResize="0"/>
          <p:nvPr/>
        </p:nvPicPr>
        <p:blipFill rotWithShape="1">
          <a:blip r:embed="rId3">
            <a:alphaModFix/>
          </a:blip>
          <a:srcRect b="41583" l="20130" r="17792" t="27926"/>
          <a:stretch/>
        </p:blipFill>
        <p:spPr>
          <a:xfrm>
            <a:off x="362607" y="2885703"/>
            <a:ext cx="8418786" cy="17813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/>
          <p:nvPr>
            <p:ph type="title"/>
          </p:nvPr>
        </p:nvSpPr>
        <p:spPr>
          <a:xfrm>
            <a:off x="362607" y="187863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3200">
                <a:solidFill>
                  <a:srgbClr val="7F7F7F"/>
                </a:solidFill>
              </a:rPr>
              <a:t>DATA TYPES 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221" name="Google Shape;221;p18"/>
          <p:cNvSpPr txBox="1"/>
          <p:nvPr>
            <p:ph idx="1" type="body"/>
          </p:nvPr>
        </p:nvSpPr>
        <p:spPr>
          <a:xfrm>
            <a:off x="362607" y="779262"/>
            <a:ext cx="8418786" cy="3304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i="0" lang="en-US" sz="1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 data type of a column defines what sort of data that an object can store  such as integer, character, money, date and time, binary, and so 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222" name="Google Shape;222;p18"/>
          <p:cNvSpPr txBox="1"/>
          <p:nvPr/>
        </p:nvSpPr>
        <p:spPr>
          <a:xfrm>
            <a:off x="362607" y="1600419"/>
            <a:ext cx="50995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NUMERIC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CHARACTER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DATE AND TIME</a:t>
            </a:r>
            <a:endParaRPr b="0" i="0" sz="16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NUMERIC</a:t>
            </a:r>
            <a:endParaRPr b="1"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693681" y="979288"/>
            <a:ext cx="2343807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Data Type</a:t>
            </a:r>
            <a:endParaRPr b="1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2480442" y="906837"/>
            <a:ext cx="4183116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endParaRPr b="1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541280" y="1493756"/>
            <a:ext cx="2259727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bigint dd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470537" y="2796312"/>
            <a:ext cx="2343807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smallint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363416" y="2110669"/>
            <a:ext cx="2343807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int(s)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2707223" y="1491964"/>
            <a:ext cx="5895496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-9,223,372,036,854,775,808 to 9,223,372,036,854,775,807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2971800" y="2012708"/>
            <a:ext cx="4183116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-2,147,483,647  to 2,147,483,647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2480442" y="2722403"/>
            <a:ext cx="4183116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-32,768 to 32767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457200" y="3482353"/>
            <a:ext cx="2250023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tinyint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2159879" y="3501521"/>
            <a:ext cx="4183116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0 - 255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2814344" y="4093690"/>
            <a:ext cx="4183116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-10 ^38+1   to 10^38 -1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812121" y="4093690"/>
            <a:ext cx="2159679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decimal(s , d)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DATE AND TIME</a:t>
            </a:r>
            <a:endParaRPr b="1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457200" y="1132227"/>
            <a:ext cx="2343807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Data Type</a:t>
            </a:r>
            <a:endParaRPr b="1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3098227" y="1200277"/>
            <a:ext cx="3405149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Format</a:t>
            </a:r>
            <a:endParaRPr b="1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224759" y="1880593"/>
            <a:ext cx="2343807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Date 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224759" y="2904639"/>
            <a:ext cx="2343807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224759" y="2392616"/>
            <a:ext cx="2343807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2831527" y="1897659"/>
            <a:ext cx="4183116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YYYY-MM-DD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2709244" y="2370882"/>
            <a:ext cx="4183116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HH:MM:SS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3669322" y="2853387"/>
            <a:ext cx="2184941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YYYY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CHARACTER</a:t>
            </a:r>
            <a:endParaRPr b="1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545123" y="1347409"/>
            <a:ext cx="2343807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Data Type</a:t>
            </a:r>
            <a:endParaRPr b="1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3762705" y="1376854"/>
            <a:ext cx="4183116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endParaRPr b="1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457200" y="2023719"/>
            <a:ext cx="2343807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Char 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89084" y="2590740"/>
            <a:ext cx="2255884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Varchar(s)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3755631" y="1980130"/>
            <a:ext cx="3892464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0 - 255 characters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3755631" y="2620358"/>
            <a:ext cx="4183116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0 – 65535 characters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4465078" y="3237777"/>
            <a:ext cx="2473569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65535 characters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457200" y="3237778"/>
            <a:ext cx="2255885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/>
          <p:nvPr>
            <p:ph type="title"/>
          </p:nvPr>
        </p:nvSpPr>
        <p:spPr>
          <a:xfrm>
            <a:off x="94388" y="159296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 SQL CONSTRAINTS</a:t>
            </a:r>
            <a:endParaRPr b="1">
              <a:solidFill>
                <a:srgbClr val="7F7F7F"/>
              </a:solidFill>
            </a:endParaRPr>
          </a:p>
        </p:txBody>
      </p:sp>
      <p:grpSp>
        <p:nvGrpSpPr>
          <p:cNvPr id="271" name="Google Shape;271;p24"/>
          <p:cNvGrpSpPr/>
          <p:nvPr/>
        </p:nvGrpSpPr>
        <p:grpSpPr>
          <a:xfrm>
            <a:off x="4907798" y="1147488"/>
            <a:ext cx="3085853" cy="3235325"/>
            <a:chOff x="1039990" y="0"/>
            <a:chExt cx="3085853" cy="3235325"/>
          </a:xfrm>
        </p:grpSpPr>
        <p:sp>
          <p:nvSpPr>
            <p:cNvPr id="272" name="Google Shape;272;p24"/>
            <p:cNvSpPr/>
            <p:nvPr/>
          </p:nvSpPr>
          <p:spPr>
            <a:xfrm>
              <a:off x="1919458" y="1043716"/>
              <a:ext cx="1326608" cy="1147570"/>
            </a:xfrm>
            <a:prstGeom prst="hexagon">
              <a:avLst>
                <a:gd fmla="val 28570" name="adj"/>
                <a:gd fmla="val 115470" name="vf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4"/>
            <p:cNvSpPr txBox="1"/>
            <p:nvPr/>
          </p:nvSpPr>
          <p:spPr>
            <a:xfrm>
              <a:off x="2139296" y="1233884"/>
              <a:ext cx="886932" cy="767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keys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2750170" y="494681"/>
              <a:ext cx="500525" cy="431268"/>
            </a:xfrm>
            <a:prstGeom prst="hexagon">
              <a:avLst>
                <a:gd fmla="val 28900" name="adj"/>
                <a:gd fmla="val 115470" name="vf"/>
              </a:avLst>
            </a:prstGeom>
            <a:solidFill>
              <a:srgbClr val="CFD7E7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2041658" y="0"/>
              <a:ext cx="1087146" cy="940509"/>
            </a:xfrm>
            <a:prstGeom prst="hexagon">
              <a:avLst>
                <a:gd fmla="val 28570" name="adj"/>
                <a:gd fmla="val 115470" name="vf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4"/>
            <p:cNvSpPr txBox="1"/>
            <p:nvPr/>
          </p:nvSpPr>
          <p:spPr>
            <a:xfrm>
              <a:off x="2221821" y="155862"/>
              <a:ext cx="726820" cy="628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NOT NULL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3334322" y="1300924"/>
              <a:ext cx="500525" cy="431268"/>
            </a:xfrm>
            <a:prstGeom prst="hexagon">
              <a:avLst>
                <a:gd fmla="val 28900" name="adj"/>
                <a:gd fmla="val 115470" name="vf"/>
              </a:avLst>
            </a:prstGeom>
            <a:solidFill>
              <a:srgbClr val="CFD7E7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3038697" y="578476"/>
              <a:ext cx="1087146" cy="940509"/>
            </a:xfrm>
            <a:prstGeom prst="hexagon">
              <a:avLst>
                <a:gd fmla="val 28570" name="adj"/>
                <a:gd fmla="val 115470" name="vf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4"/>
            <p:cNvSpPr txBox="1"/>
            <p:nvPr/>
          </p:nvSpPr>
          <p:spPr>
            <a:xfrm>
              <a:off x="3218860" y="734338"/>
              <a:ext cx="726820" cy="628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unique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2928532" y="2211021"/>
              <a:ext cx="500525" cy="431268"/>
            </a:xfrm>
            <a:prstGeom prst="hexagon">
              <a:avLst>
                <a:gd fmla="val 28900" name="adj"/>
                <a:gd fmla="val 115470" name="vf"/>
              </a:avLst>
            </a:prstGeom>
            <a:solidFill>
              <a:srgbClr val="CFD7E7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3038697" y="1715693"/>
              <a:ext cx="1087146" cy="940509"/>
            </a:xfrm>
            <a:prstGeom prst="hexagon">
              <a:avLst>
                <a:gd fmla="val 28570" name="adj"/>
                <a:gd fmla="val 115470" name="vf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4"/>
            <p:cNvSpPr txBox="1"/>
            <p:nvPr/>
          </p:nvSpPr>
          <p:spPr>
            <a:xfrm>
              <a:off x="3218860" y="1871555"/>
              <a:ext cx="726820" cy="628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Primary key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1921927" y="2305493"/>
              <a:ext cx="500525" cy="431268"/>
            </a:xfrm>
            <a:prstGeom prst="hexagon">
              <a:avLst>
                <a:gd fmla="val 28900" name="adj"/>
                <a:gd fmla="val 115470" name="vf"/>
              </a:avLst>
            </a:prstGeom>
            <a:solidFill>
              <a:srgbClr val="CFD7E7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4"/>
            <p:cNvSpPr/>
            <p:nvPr/>
          </p:nvSpPr>
          <p:spPr>
            <a:xfrm>
              <a:off x="2041658" y="2294816"/>
              <a:ext cx="1087146" cy="940509"/>
            </a:xfrm>
            <a:prstGeom prst="hexagon">
              <a:avLst>
                <a:gd fmla="val 28570" name="adj"/>
                <a:gd fmla="val 115470" name="vf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4"/>
            <p:cNvSpPr txBox="1"/>
            <p:nvPr/>
          </p:nvSpPr>
          <p:spPr>
            <a:xfrm>
              <a:off x="2221821" y="2450678"/>
              <a:ext cx="726820" cy="628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Foreign key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1328208" y="1499573"/>
              <a:ext cx="500525" cy="431268"/>
            </a:xfrm>
            <a:prstGeom prst="hexagon">
              <a:avLst>
                <a:gd fmla="val 28900" name="adj"/>
                <a:gd fmla="val 115470" name="vf"/>
              </a:avLst>
            </a:prstGeom>
            <a:solidFill>
              <a:srgbClr val="CFD7E7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1039990" y="1716340"/>
              <a:ext cx="1087146" cy="940509"/>
            </a:xfrm>
            <a:prstGeom prst="hexagon">
              <a:avLst>
                <a:gd fmla="val 28570" name="adj"/>
                <a:gd fmla="val 115470" name="vf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4"/>
            <p:cNvSpPr txBox="1"/>
            <p:nvPr/>
          </p:nvSpPr>
          <p:spPr>
            <a:xfrm>
              <a:off x="1220153" y="1872202"/>
              <a:ext cx="726820" cy="628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check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1039990" y="577182"/>
              <a:ext cx="1087146" cy="940509"/>
            </a:xfrm>
            <a:prstGeom prst="hexagon">
              <a:avLst>
                <a:gd fmla="val 28570" name="adj"/>
                <a:gd fmla="val 115470" name="vf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4"/>
            <p:cNvSpPr txBox="1"/>
            <p:nvPr/>
          </p:nvSpPr>
          <p:spPr>
            <a:xfrm>
              <a:off x="1220153" y="733044"/>
              <a:ext cx="726820" cy="628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default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1" name="Google Shape;291;p24"/>
          <p:cNvSpPr txBox="1"/>
          <p:nvPr/>
        </p:nvSpPr>
        <p:spPr>
          <a:xfrm>
            <a:off x="246992" y="949464"/>
            <a:ext cx="4325007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 DBMS keys are an attributes which help you uniquely identify a record or row of data in a relation.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solidFill>
                  <a:srgbClr val="7F7F7F"/>
                </a:solidFill>
              </a:rPr>
              <a:t>SQL CONSTRAINTS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82061" y="897662"/>
            <a:ext cx="2343807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Not null</a:t>
            </a:r>
            <a:endParaRPr b="1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2425868" y="909495"/>
            <a:ext cx="5393419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It ensures that column cannot have null values.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362608" y="1441177"/>
            <a:ext cx="1782712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Unique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185993" y="3123910"/>
            <a:ext cx="2229305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Default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467304" y="3743344"/>
            <a:ext cx="1573319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272861" y="2595347"/>
            <a:ext cx="2343807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Foreign key</a:t>
            </a:r>
            <a:endParaRPr b="1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368263" y="1996769"/>
            <a:ext cx="2153005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Primary key</a:t>
            </a:r>
            <a:endParaRPr b="1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2274276" y="1460017"/>
            <a:ext cx="5696602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It ensures that all values in a column are unique.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2368064" y="2042381"/>
            <a:ext cx="5412017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It’s a combination of not null and unique keys.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2765463" y="2595347"/>
            <a:ext cx="5696602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It prevents actions that would destroy link between tables.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1935927" y="3886934"/>
            <a:ext cx="6731874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It ensures that the values in a column satisfies 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specified condition.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2521268" y="3150550"/>
            <a:ext cx="5696600" cy="460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Sets a default value for a column if value is specified.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"/>
          <p:cNvSpPr txBox="1"/>
          <p:nvPr>
            <p:ph type="title"/>
          </p:nvPr>
        </p:nvSpPr>
        <p:spPr>
          <a:xfrm>
            <a:off x="362607" y="180959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DROP TABLE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315" name="Google Shape;315;p26"/>
          <p:cNvSpPr txBox="1"/>
          <p:nvPr>
            <p:ph idx="1" type="body"/>
          </p:nvPr>
        </p:nvSpPr>
        <p:spPr>
          <a:xfrm>
            <a:off x="362607" y="1150839"/>
            <a:ext cx="6721365" cy="1142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DROP TABLE </a:t>
            </a:r>
            <a:r>
              <a:rPr lang="en-US" sz="1600">
                <a:solidFill>
                  <a:srgbClr val="7F7F7F"/>
                </a:solidFill>
              </a:rPr>
              <a:t>&lt; table name &gt;  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7F7F7F"/>
                </a:solidFill>
              </a:rPr>
              <a:t>   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pic>
        <p:nvPicPr>
          <p:cNvPr id="316" name="Google Shape;316;p26"/>
          <p:cNvPicPr preferRelativeResize="0"/>
          <p:nvPr/>
        </p:nvPicPr>
        <p:blipFill rotWithShape="1">
          <a:blip r:embed="rId3">
            <a:alphaModFix/>
          </a:blip>
          <a:srcRect b="55421" l="21464" r="34146" t="27957"/>
          <a:stretch/>
        </p:blipFill>
        <p:spPr>
          <a:xfrm>
            <a:off x="362607" y="2451474"/>
            <a:ext cx="7426713" cy="122842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 txBox="1"/>
          <p:nvPr>
            <p:ph type="title"/>
          </p:nvPr>
        </p:nvSpPr>
        <p:spPr>
          <a:xfrm>
            <a:off x="362607" y="199738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INSERT INTO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323" name="Google Shape;323;p27"/>
          <p:cNvSpPr txBox="1"/>
          <p:nvPr>
            <p:ph idx="1" type="body"/>
          </p:nvPr>
        </p:nvSpPr>
        <p:spPr>
          <a:xfrm>
            <a:off x="362607" y="941235"/>
            <a:ext cx="7565910" cy="1742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06450"/>
              <a:buNone/>
            </a:pPr>
            <a:r>
              <a:rPr lang="en-US" sz="2000">
                <a:solidFill>
                  <a:srgbClr val="7F7F7F"/>
                </a:solidFill>
              </a:rPr>
              <a:t>Insert into is used to insert new records in the table.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06450"/>
              <a:buNone/>
            </a:pPr>
            <a:r>
              <a:t/>
            </a:r>
            <a:endParaRPr b="1" sz="20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06450"/>
              <a:buNone/>
            </a:pPr>
            <a:r>
              <a:t/>
            </a:r>
            <a:endParaRPr b="1" sz="20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06450"/>
              <a:buNone/>
            </a:pPr>
            <a:r>
              <a:rPr b="1" lang="en-US" sz="2000">
                <a:solidFill>
                  <a:srgbClr val="7F7F7F"/>
                </a:solidFill>
              </a:rPr>
              <a:t>INSERT INTO  </a:t>
            </a:r>
            <a:r>
              <a:rPr lang="en-US" sz="2000">
                <a:solidFill>
                  <a:srgbClr val="7F7F7F"/>
                </a:solidFill>
              </a:rPr>
              <a:t>&lt; table name &gt;  (column1 ,column2,column3…)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06450"/>
              <a:buNone/>
            </a:pPr>
            <a:r>
              <a:rPr b="1" lang="en-US" sz="2000">
                <a:solidFill>
                  <a:srgbClr val="7F7F7F"/>
                </a:solidFill>
              </a:rPr>
              <a:t>VALUES </a:t>
            </a:r>
            <a:r>
              <a:rPr lang="en-US" sz="2000">
                <a:solidFill>
                  <a:srgbClr val="7F7F7F"/>
                </a:solidFill>
              </a:rPr>
              <a:t>(&lt;val1&gt;, &lt;val2&gt; ,&lt;val3&gt;…);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>
                <a:solidFill>
                  <a:srgbClr val="7F7F7F"/>
                </a:solidFill>
              </a:rPr>
              <a:t>  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29390"/>
              <a:buNone/>
            </a:pPr>
            <a:r>
              <a:t/>
            </a:r>
            <a:endParaRPr sz="1800">
              <a:solidFill>
                <a:srgbClr val="7F7F7F"/>
              </a:solidFill>
            </a:endParaRPr>
          </a:p>
        </p:txBody>
      </p:sp>
      <p:pic>
        <p:nvPicPr>
          <p:cNvPr id="324" name="Google Shape;324;p27"/>
          <p:cNvPicPr preferRelativeResize="0"/>
          <p:nvPr/>
        </p:nvPicPr>
        <p:blipFill rotWithShape="1">
          <a:blip r:embed="rId3">
            <a:alphaModFix/>
          </a:blip>
          <a:srcRect b="23104" l="19740" r="27012" t="50000"/>
          <a:stretch/>
        </p:blipFill>
        <p:spPr>
          <a:xfrm>
            <a:off x="362607" y="2571750"/>
            <a:ext cx="8555762" cy="204977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8"/>
          <p:cNvSpPr txBox="1"/>
          <p:nvPr>
            <p:ph type="title"/>
          </p:nvPr>
        </p:nvSpPr>
        <p:spPr>
          <a:xfrm>
            <a:off x="421627" y="201495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UPDATE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331" name="Google Shape;331;p28"/>
          <p:cNvSpPr txBox="1"/>
          <p:nvPr>
            <p:ph idx="1" type="body"/>
          </p:nvPr>
        </p:nvSpPr>
        <p:spPr>
          <a:xfrm>
            <a:off x="362607" y="1429562"/>
            <a:ext cx="67215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UPDATE TABLE </a:t>
            </a:r>
            <a:r>
              <a:rPr lang="en-US" sz="1600">
                <a:solidFill>
                  <a:srgbClr val="7F7F7F"/>
                </a:solidFill>
              </a:rPr>
              <a:t>&lt; table name &gt; 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SET</a:t>
            </a:r>
            <a:r>
              <a:rPr lang="en-US" sz="1600">
                <a:solidFill>
                  <a:srgbClr val="7F7F7F"/>
                </a:solidFill>
              </a:rPr>
              <a:t>  &lt;column1&gt;=&lt;value1&gt; ,&lt;column2&gt;=&lt;value1&gt; …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WHERE</a:t>
            </a:r>
            <a:r>
              <a:rPr lang="en-US" sz="1600">
                <a:solidFill>
                  <a:srgbClr val="7F7F7F"/>
                </a:solidFill>
              </a:rPr>
              <a:t> &lt;condition&gt; ;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332" name="Google Shape;332;p28"/>
          <p:cNvSpPr txBox="1"/>
          <p:nvPr/>
        </p:nvSpPr>
        <p:spPr>
          <a:xfrm>
            <a:off x="362607" y="857007"/>
            <a:ext cx="80561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Used to modify the existing records in a table using where condition.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28"/>
          <p:cNvPicPr preferRelativeResize="0"/>
          <p:nvPr/>
        </p:nvPicPr>
        <p:blipFill rotWithShape="1">
          <a:blip r:embed="rId3">
            <a:alphaModFix/>
          </a:blip>
          <a:srcRect b="53823" l="22529" r="12195" t="31860"/>
          <a:stretch/>
        </p:blipFill>
        <p:spPr>
          <a:xfrm>
            <a:off x="362607" y="3033132"/>
            <a:ext cx="8056180" cy="144965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9"/>
          <p:cNvSpPr txBox="1"/>
          <p:nvPr>
            <p:ph type="title"/>
          </p:nvPr>
        </p:nvSpPr>
        <p:spPr>
          <a:xfrm>
            <a:off x="362607" y="139003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DELETE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340" name="Google Shape;340;p29"/>
          <p:cNvSpPr txBox="1"/>
          <p:nvPr>
            <p:ph idx="1" type="body"/>
          </p:nvPr>
        </p:nvSpPr>
        <p:spPr>
          <a:xfrm>
            <a:off x="362607" y="1429562"/>
            <a:ext cx="6721365" cy="744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DELETE FROM </a:t>
            </a:r>
            <a:r>
              <a:rPr lang="en-US" sz="1600">
                <a:solidFill>
                  <a:srgbClr val="7F7F7F"/>
                </a:solidFill>
              </a:rPr>
              <a:t>&lt; table name &gt; 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WHERE</a:t>
            </a:r>
            <a:r>
              <a:rPr lang="en-US" sz="1600">
                <a:solidFill>
                  <a:srgbClr val="7F7F7F"/>
                </a:solidFill>
              </a:rPr>
              <a:t> &lt;condition&gt; ;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341" name="Google Shape;341;p29"/>
          <p:cNvSpPr txBox="1"/>
          <p:nvPr/>
        </p:nvSpPr>
        <p:spPr>
          <a:xfrm>
            <a:off x="362607" y="857007"/>
            <a:ext cx="80561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Used to delete the existing records in a table using where condition.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29"/>
          <p:cNvPicPr preferRelativeResize="0"/>
          <p:nvPr/>
        </p:nvPicPr>
        <p:blipFill rotWithShape="1">
          <a:blip r:embed="rId3">
            <a:alphaModFix/>
          </a:blip>
          <a:srcRect b="53822" l="22529" r="26708" t="29432"/>
          <a:stretch/>
        </p:blipFill>
        <p:spPr>
          <a:xfrm>
            <a:off x="362607" y="2571750"/>
            <a:ext cx="7722027" cy="143209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 txBox="1"/>
          <p:nvPr>
            <p:ph idx="1" type="body"/>
          </p:nvPr>
        </p:nvSpPr>
        <p:spPr>
          <a:xfrm>
            <a:off x="362606" y="1965798"/>
            <a:ext cx="76090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ALTER TABLE </a:t>
            </a:r>
            <a:r>
              <a:rPr lang="en-US" sz="1600">
                <a:solidFill>
                  <a:srgbClr val="7F7F7F"/>
                </a:solidFill>
              </a:rPr>
              <a:t>&lt; table name &gt;  </a:t>
            </a:r>
            <a:r>
              <a:rPr b="1" lang="en-US" sz="1600">
                <a:solidFill>
                  <a:srgbClr val="7F7F7F"/>
                </a:solidFill>
              </a:rPr>
              <a:t>ADD</a:t>
            </a:r>
            <a:r>
              <a:rPr lang="en-US" sz="1600">
                <a:solidFill>
                  <a:srgbClr val="7F7F7F"/>
                </a:solidFill>
              </a:rPr>
              <a:t> &lt; column name &gt; &lt; data type &gt; 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349" name="Google Shape;349;p30"/>
          <p:cNvSpPr txBox="1"/>
          <p:nvPr/>
        </p:nvSpPr>
        <p:spPr>
          <a:xfrm>
            <a:off x="362607" y="939518"/>
            <a:ext cx="84187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It is used to add new column to the table.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p30"/>
          <p:cNvPicPr preferRelativeResize="0"/>
          <p:nvPr/>
        </p:nvPicPr>
        <p:blipFill rotWithShape="1">
          <a:blip r:embed="rId3">
            <a:alphaModFix/>
          </a:blip>
          <a:srcRect b="52944" l="22683" r="25975" t="32512"/>
          <a:stretch/>
        </p:blipFill>
        <p:spPr>
          <a:xfrm>
            <a:off x="362606" y="2993788"/>
            <a:ext cx="8112321" cy="106525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sp>
        <p:nvSpPr>
          <p:cNvPr id="351" name="Google Shape;351;p30"/>
          <p:cNvSpPr txBox="1"/>
          <p:nvPr/>
        </p:nvSpPr>
        <p:spPr>
          <a:xfrm>
            <a:off x="362606" y="133990"/>
            <a:ext cx="226947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ALTER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/>
          <p:nvPr/>
        </p:nvSpPr>
        <p:spPr>
          <a:xfrm>
            <a:off x="445072" y="1395475"/>
            <a:ext cx="8253855" cy="596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ALTER TABLE 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&lt; table name &gt;  </a:t>
            </a: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DROP COLUMN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&lt; column name &gt; 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31"/>
          <p:cNvPicPr preferRelativeResize="0"/>
          <p:nvPr/>
        </p:nvPicPr>
        <p:blipFill rotWithShape="1">
          <a:blip r:embed="rId3">
            <a:alphaModFix/>
          </a:blip>
          <a:srcRect b="54829" l="22195" r="24023" t="30627"/>
          <a:stretch/>
        </p:blipFill>
        <p:spPr>
          <a:xfrm>
            <a:off x="462964" y="2375210"/>
            <a:ext cx="7409795" cy="114857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sp>
        <p:nvSpPr>
          <p:cNvPr id="359" name="Google Shape;359;p31"/>
          <p:cNvSpPr txBox="1"/>
          <p:nvPr/>
        </p:nvSpPr>
        <p:spPr>
          <a:xfrm>
            <a:off x="445072" y="799123"/>
            <a:ext cx="8253855" cy="596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DROP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Used to drop existing column from the 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"/>
          <p:cNvSpPr txBox="1"/>
          <p:nvPr/>
        </p:nvSpPr>
        <p:spPr>
          <a:xfrm>
            <a:off x="362606" y="1897447"/>
            <a:ext cx="7773208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ALTER TABLE 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&lt; table name &gt;  </a:t>
            </a: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MODIFY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&lt; column name &gt; &lt; data type &gt; 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32"/>
          <p:cNvPicPr preferRelativeResize="0"/>
          <p:nvPr/>
        </p:nvPicPr>
        <p:blipFill rotWithShape="1">
          <a:blip r:embed="rId3">
            <a:alphaModFix/>
          </a:blip>
          <a:srcRect b="54829" l="22561" r="20976" t="30627"/>
          <a:stretch/>
        </p:blipFill>
        <p:spPr>
          <a:xfrm>
            <a:off x="362606" y="2571750"/>
            <a:ext cx="8435706" cy="139149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sp>
        <p:nvSpPr>
          <p:cNvPr id="367" name="Google Shape;367;p32"/>
          <p:cNvSpPr txBox="1"/>
          <p:nvPr/>
        </p:nvSpPr>
        <p:spPr>
          <a:xfrm>
            <a:off x="362606" y="882075"/>
            <a:ext cx="8253855" cy="757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MODIFY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Used to modify data type of column.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3"/>
          <p:cNvSpPr txBox="1"/>
          <p:nvPr>
            <p:ph idx="1" type="body"/>
          </p:nvPr>
        </p:nvSpPr>
        <p:spPr>
          <a:xfrm>
            <a:off x="578885" y="1769171"/>
            <a:ext cx="8363714" cy="720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ALTER TABLE </a:t>
            </a:r>
            <a:r>
              <a:rPr lang="en-US" sz="1600">
                <a:solidFill>
                  <a:srgbClr val="7F7F7F"/>
                </a:solidFill>
              </a:rPr>
              <a:t>&lt; table name &gt;  </a:t>
            </a:r>
            <a:r>
              <a:rPr b="1" lang="en-US" sz="1600">
                <a:solidFill>
                  <a:srgbClr val="7F7F7F"/>
                </a:solidFill>
              </a:rPr>
              <a:t>RENAME COLUMN </a:t>
            </a:r>
            <a:r>
              <a:rPr lang="en-US" sz="1600">
                <a:solidFill>
                  <a:srgbClr val="7F7F7F"/>
                </a:solidFill>
              </a:rPr>
              <a:t>&lt; old_column_name &gt;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7F7F7F"/>
                </a:solidFill>
              </a:rPr>
              <a:t>to &lt;new_column_name&gt; 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7F7F7F"/>
              </a:solidFill>
            </a:endParaRPr>
          </a:p>
        </p:txBody>
      </p:sp>
      <p:pic>
        <p:nvPicPr>
          <p:cNvPr id="374" name="Google Shape;374;p33"/>
          <p:cNvPicPr preferRelativeResize="0"/>
          <p:nvPr/>
        </p:nvPicPr>
        <p:blipFill rotWithShape="1">
          <a:blip r:embed="rId3">
            <a:alphaModFix/>
          </a:blip>
          <a:srcRect b="54257" l="22927" r="20852" t="31861"/>
          <a:stretch/>
        </p:blipFill>
        <p:spPr>
          <a:xfrm>
            <a:off x="578885" y="2776653"/>
            <a:ext cx="7630747" cy="105936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sp>
        <p:nvSpPr>
          <p:cNvPr id="375" name="Google Shape;375;p33"/>
          <p:cNvSpPr txBox="1"/>
          <p:nvPr/>
        </p:nvSpPr>
        <p:spPr>
          <a:xfrm>
            <a:off x="578885" y="905260"/>
            <a:ext cx="8363714" cy="720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RENAME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Used to rename the existing column name.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602165" y="1635994"/>
            <a:ext cx="8253855" cy="471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ALTER TABLE </a:t>
            </a:r>
            <a:r>
              <a:rPr lang="en-US" sz="1600">
                <a:solidFill>
                  <a:srgbClr val="7F7F7F"/>
                </a:solidFill>
              </a:rPr>
              <a:t>&lt; table name &gt;  </a:t>
            </a:r>
            <a:r>
              <a:rPr b="1" lang="en-US" sz="1600">
                <a:solidFill>
                  <a:srgbClr val="7F7F7F"/>
                </a:solidFill>
              </a:rPr>
              <a:t>RENAME TO </a:t>
            </a:r>
            <a:r>
              <a:rPr lang="en-US" sz="1600">
                <a:solidFill>
                  <a:srgbClr val="7F7F7F"/>
                </a:solidFill>
              </a:rPr>
              <a:t>&lt;new_table_name&gt; 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pic>
        <p:nvPicPr>
          <p:cNvPr id="382" name="Google Shape;382;p34"/>
          <p:cNvPicPr preferRelativeResize="0"/>
          <p:nvPr/>
        </p:nvPicPr>
        <p:blipFill rotWithShape="1">
          <a:blip r:embed="rId3">
            <a:alphaModFix/>
          </a:blip>
          <a:srcRect b="53860" l="22317" r="28293" t="30752"/>
          <a:stretch/>
        </p:blipFill>
        <p:spPr>
          <a:xfrm>
            <a:off x="602165" y="2872741"/>
            <a:ext cx="6835699" cy="114772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sp>
        <p:nvSpPr>
          <p:cNvPr id="383" name="Google Shape;383;p34"/>
          <p:cNvSpPr txBox="1"/>
          <p:nvPr/>
        </p:nvSpPr>
        <p:spPr>
          <a:xfrm>
            <a:off x="602164" y="870832"/>
            <a:ext cx="8253855" cy="765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Used to rename table</a:t>
            </a: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427630" y="1206287"/>
            <a:ext cx="8253855" cy="1195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595959"/>
                </a:solidFill>
              </a:rPr>
              <a:t>Truncate used to clear the records inside table.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TRUNCATE TABLE</a:t>
            </a:r>
            <a:r>
              <a:rPr lang="en-US" sz="1600">
                <a:solidFill>
                  <a:srgbClr val="595959"/>
                </a:solidFill>
              </a:rPr>
              <a:t>&lt; table name &gt; 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90" name="Google Shape;390;p35"/>
          <p:cNvSpPr txBox="1"/>
          <p:nvPr/>
        </p:nvSpPr>
        <p:spPr>
          <a:xfrm>
            <a:off x="316118" y="136417"/>
            <a:ext cx="24501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TRUNCATE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35"/>
          <p:cNvPicPr preferRelativeResize="0"/>
          <p:nvPr/>
        </p:nvPicPr>
        <p:blipFill rotWithShape="1">
          <a:blip r:embed="rId3">
            <a:alphaModFix/>
          </a:blip>
          <a:srcRect b="54691" l="22805" r="29755" t="32078"/>
          <a:stretch/>
        </p:blipFill>
        <p:spPr>
          <a:xfrm>
            <a:off x="427630" y="2887136"/>
            <a:ext cx="8593706" cy="134760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solidFill>
                  <a:srgbClr val="7F7F7F"/>
                </a:solidFill>
              </a:rPr>
              <a:t>IMPORT TABLE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397" name="Google Shape;397;p3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Select database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Right click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Select Table data import wizard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Browse to select the file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Check on create new table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Click next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Import</a:t>
            </a:r>
            <a:endParaRPr sz="160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solidFill>
                  <a:srgbClr val="7F7F7F"/>
                </a:solidFill>
              </a:rPr>
              <a:t>IMPORT DATABASE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403" name="Google Shape;403;p37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Click on Server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Select data import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Self contained file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Open Import progress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Start import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solidFill>
                  <a:srgbClr val="7F7F7F"/>
                </a:solidFill>
              </a:rPr>
              <a:t>EXPORT TABLE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409" name="Google Shape;409;p38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Select Table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Right click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Select Table data export wizard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Browse to select destination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Export</a:t>
            </a:r>
            <a:endParaRPr sz="160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9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solidFill>
                  <a:srgbClr val="7F7F7F"/>
                </a:solidFill>
              </a:rPr>
              <a:t>EXPORT DATABASE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415" name="Google Shape;415;p3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Click on Server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Select data export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Select the database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Open export progress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lang="en-US" sz="1600">
                <a:solidFill>
                  <a:srgbClr val="7F7F7F"/>
                </a:solidFill>
              </a:rPr>
              <a:t>Start export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1"/>
          <p:cNvSpPr txBox="1"/>
          <p:nvPr>
            <p:ph type="title"/>
          </p:nvPr>
        </p:nvSpPr>
        <p:spPr>
          <a:xfrm>
            <a:off x="362607" y="110729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SELECT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422" name="Google Shape;422;p41"/>
          <p:cNvSpPr txBox="1"/>
          <p:nvPr>
            <p:ph idx="1" type="body"/>
          </p:nvPr>
        </p:nvSpPr>
        <p:spPr>
          <a:xfrm>
            <a:off x="362607" y="1451658"/>
            <a:ext cx="8699331" cy="815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SELECT</a:t>
            </a:r>
            <a:r>
              <a:rPr lang="en-US" sz="1600">
                <a:solidFill>
                  <a:srgbClr val="595959"/>
                </a:solidFill>
              </a:rPr>
              <a:t> &lt;column1&gt;, &lt; column2 &gt; </a:t>
            </a:r>
            <a:r>
              <a:rPr b="1" lang="en-US" sz="1600">
                <a:solidFill>
                  <a:srgbClr val="7F7F7F"/>
                </a:solidFill>
              </a:rPr>
              <a:t>FROM</a:t>
            </a:r>
            <a:r>
              <a:rPr lang="en-US" sz="1600">
                <a:solidFill>
                  <a:srgbClr val="595959"/>
                </a:solidFill>
              </a:rPr>
              <a:t>  &lt; table name &gt; 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SELECT</a:t>
            </a:r>
            <a:r>
              <a:rPr lang="en-US" sz="1600">
                <a:solidFill>
                  <a:srgbClr val="595959"/>
                </a:solidFill>
              </a:rPr>
              <a:t> &lt; * &gt;  </a:t>
            </a:r>
            <a:r>
              <a:rPr b="1" lang="en-US" sz="1600">
                <a:solidFill>
                  <a:srgbClr val="7F7F7F"/>
                </a:solidFill>
              </a:rPr>
              <a:t>FROM </a:t>
            </a:r>
            <a:r>
              <a:rPr lang="en-US" sz="1600">
                <a:solidFill>
                  <a:srgbClr val="595959"/>
                </a:solidFill>
              </a:rPr>
              <a:t> &lt; table name &gt; ;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sp>
        <p:nvSpPr>
          <p:cNvPr id="423" name="Google Shape;423;p41"/>
          <p:cNvSpPr txBox="1"/>
          <p:nvPr/>
        </p:nvSpPr>
        <p:spPr>
          <a:xfrm>
            <a:off x="362607" y="779262"/>
            <a:ext cx="869933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 statement is used to fetch all the records from the table or to fetch subset of columns.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41"/>
          <p:cNvPicPr preferRelativeResize="0"/>
          <p:nvPr/>
        </p:nvPicPr>
        <p:blipFill rotWithShape="1">
          <a:blip r:embed="rId3">
            <a:alphaModFix/>
          </a:blip>
          <a:srcRect b="54690" l="22073" r="27073" t="26005"/>
          <a:stretch/>
        </p:blipFill>
        <p:spPr>
          <a:xfrm>
            <a:off x="444669" y="2405875"/>
            <a:ext cx="8052560" cy="1718654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"/>
          <p:cNvSpPr txBox="1"/>
          <p:nvPr>
            <p:ph type="title"/>
          </p:nvPr>
        </p:nvSpPr>
        <p:spPr>
          <a:xfrm>
            <a:off x="279480" y="13509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SELECT DISTINCT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431" name="Google Shape;431;p42"/>
          <p:cNvSpPr txBox="1"/>
          <p:nvPr>
            <p:ph idx="1" type="body"/>
          </p:nvPr>
        </p:nvSpPr>
        <p:spPr>
          <a:xfrm>
            <a:off x="362607" y="1585598"/>
            <a:ext cx="6721365" cy="8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SELECT </a:t>
            </a:r>
            <a:r>
              <a:rPr lang="en-US" sz="1600">
                <a:solidFill>
                  <a:srgbClr val="7F7F7F"/>
                </a:solidFill>
              </a:rPr>
              <a:t>&lt;distinct(column1)&gt;  </a:t>
            </a:r>
            <a:r>
              <a:rPr b="1" lang="en-US" sz="1600">
                <a:solidFill>
                  <a:srgbClr val="7F7F7F"/>
                </a:solidFill>
              </a:rPr>
              <a:t>FROM</a:t>
            </a:r>
            <a:r>
              <a:rPr lang="en-US" sz="1600">
                <a:solidFill>
                  <a:srgbClr val="7F7F7F"/>
                </a:solidFill>
              </a:rPr>
              <a:t>  &lt; table name &gt; 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7F7F7F"/>
              </a:solidFill>
            </a:endParaRPr>
          </a:p>
        </p:txBody>
      </p:sp>
      <p:sp>
        <p:nvSpPr>
          <p:cNvPr id="432" name="Google Shape;432;p42"/>
          <p:cNvSpPr txBox="1"/>
          <p:nvPr/>
        </p:nvSpPr>
        <p:spPr>
          <a:xfrm>
            <a:off x="362607" y="898188"/>
            <a:ext cx="85916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Used to fetch unique records from the 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42"/>
          <p:cNvPicPr preferRelativeResize="0"/>
          <p:nvPr/>
        </p:nvPicPr>
        <p:blipFill rotWithShape="1">
          <a:blip r:embed="rId3">
            <a:alphaModFix/>
          </a:blip>
          <a:srcRect b="37772" l="22317" r="30243" t="50000"/>
          <a:stretch/>
        </p:blipFill>
        <p:spPr>
          <a:xfrm>
            <a:off x="362607" y="2571750"/>
            <a:ext cx="7970995" cy="115517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3"/>
          <p:cNvSpPr txBox="1"/>
          <p:nvPr>
            <p:ph type="title"/>
          </p:nvPr>
        </p:nvSpPr>
        <p:spPr>
          <a:xfrm>
            <a:off x="279480" y="13509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ALIASES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440" name="Google Shape;440;p43"/>
          <p:cNvSpPr txBox="1"/>
          <p:nvPr>
            <p:ph idx="1" type="body"/>
          </p:nvPr>
        </p:nvSpPr>
        <p:spPr>
          <a:xfrm>
            <a:off x="356866" y="1589208"/>
            <a:ext cx="7398642" cy="8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en-US" sz="1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&lt;column_name&gt;</a:t>
            </a:r>
            <a:r>
              <a:rPr b="1" lang="en-US" sz="1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US" sz="1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&lt;alias_name&gt; </a:t>
            </a:r>
            <a:r>
              <a:rPr b="1" lang="en-US" sz="1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FROM  </a:t>
            </a:r>
            <a:r>
              <a:rPr lang="en-US" sz="1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&lt; table name &gt; 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7F7F7F"/>
              </a:solidFill>
            </a:endParaRPr>
          </a:p>
        </p:txBody>
      </p:sp>
      <p:sp>
        <p:nvSpPr>
          <p:cNvPr id="441" name="Google Shape;441;p43"/>
          <p:cNvSpPr txBox="1"/>
          <p:nvPr/>
        </p:nvSpPr>
        <p:spPr>
          <a:xfrm>
            <a:off x="356866" y="758211"/>
            <a:ext cx="85916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SQL Aliases are used to give temporary name for column and table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2" name="Google Shape;442;p43"/>
          <p:cNvPicPr preferRelativeResize="0"/>
          <p:nvPr/>
        </p:nvPicPr>
        <p:blipFill rotWithShape="1">
          <a:blip r:embed="rId3">
            <a:alphaModFix/>
          </a:blip>
          <a:srcRect b="38423" l="22805" r="42926" t="51816"/>
          <a:stretch/>
        </p:blipFill>
        <p:spPr>
          <a:xfrm>
            <a:off x="356866" y="2878988"/>
            <a:ext cx="7738919" cy="7486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4"/>
          <p:cNvSpPr txBox="1"/>
          <p:nvPr>
            <p:ph type="title"/>
          </p:nvPr>
        </p:nvSpPr>
        <p:spPr>
          <a:xfrm>
            <a:off x="271843" y="152237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WHERE CLAUSE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449" name="Google Shape;449;p44"/>
          <p:cNvSpPr txBox="1"/>
          <p:nvPr/>
        </p:nvSpPr>
        <p:spPr>
          <a:xfrm>
            <a:off x="362607" y="779262"/>
            <a:ext cx="859161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Used to filter records based on condition.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4"/>
          <p:cNvSpPr txBox="1"/>
          <p:nvPr>
            <p:ph idx="1" type="body"/>
          </p:nvPr>
        </p:nvSpPr>
        <p:spPr>
          <a:xfrm>
            <a:off x="271843" y="1302727"/>
            <a:ext cx="8229600" cy="2538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rgbClr val="7F7F7F"/>
                </a:solidFill>
              </a:rPr>
              <a:t>Conditions are of two types: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7F7F7F"/>
                </a:solidFill>
              </a:rPr>
              <a:t>Comparison  : = , &gt; ,&lt; &gt;= ,&lt;= ,!=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7F7F7F"/>
                </a:solidFill>
              </a:rPr>
              <a:t>Logical :  and , or ,not</a:t>
            </a:r>
            <a:endParaRPr sz="1600">
              <a:solidFill>
                <a:srgbClr val="7F7F7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 txBox="1"/>
          <p:nvPr>
            <p:ph type="title"/>
          </p:nvPr>
        </p:nvSpPr>
        <p:spPr>
          <a:xfrm>
            <a:off x="362607" y="140704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WHERE CLAUSE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457" name="Google Shape;457;p45"/>
          <p:cNvSpPr txBox="1"/>
          <p:nvPr>
            <p:ph idx="1" type="body"/>
          </p:nvPr>
        </p:nvSpPr>
        <p:spPr>
          <a:xfrm>
            <a:off x="362607" y="1210874"/>
            <a:ext cx="6721365" cy="8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  *   FROM  </a:t>
            </a:r>
            <a:r>
              <a:rPr lang="en-US" sz="1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&lt; table name &gt; where &lt;condition&gt; 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5"/>
          <p:cNvSpPr txBox="1"/>
          <p:nvPr/>
        </p:nvSpPr>
        <p:spPr>
          <a:xfrm>
            <a:off x="362607" y="779262"/>
            <a:ext cx="859161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Used to filter records based on condition.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45"/>
          <p:cNvPicPr preferRelativeResize="0"/>
          <p:nvPr/>
        </p:nvPicPr>
        <p:blipFill rotWithShape="1">
          <a:blip r:embed="rId3">
            <a:alphaModFix/>
          </a:blip>
          <a:srcRect b="18901" l="22561" r="30854" t="51600"/>
          <a:stretch/>
        </p:blipFill>
        <p:spPr>
          <a:xfrm>
            <a:off x="362607" y="2175880"/>
            <a:ext cx="8418785" cy="212193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6"/>
          <p:cNvSpPr txBox="1"/>
          <p:nvPr>
            <p:ph type="title"/>
          </p:nvPr>
        </p:nvSpPr>
        <p:spPr>
          <a:xfrm>
            <a:off x="362607" y="149453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AND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466" name="Google Shape;466;p46"/>
          <p:cNvSpPr txBox="1"/>
          <p:nvPr>
            <p:ph idx="1" type="body"/>
          </p:nvPr>
        </p:nvSpPr>
        <p:spPr>
          <a:xfrm>
            <a:off x="362607" y="1413305"/>
            <a:ext cx="6721365" cy="8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SELECT  *   FROM  </a:t>
            </a:r>
            <a:r>
              <a:rPr lang="en-US" sz="1600">
                <a:solidFill>
                  <a:srgbClr val="7F7F7F"/>
                </a:solidFill>
              </a:rPr>
              <a:t>&lt; table name &gt; where &lt;condition 1&gt; AND &lt;condition 2&gt; 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467" name="Google Shape;467;p46"/>
          <p:cNvSpPr txBox="1"/>
          <p:nvPr/>
        </p:nvSpPr>
        <p:spPr>
          <a:xfrm>
            <a:off x="362607" y="779262"/>
            <a:ext cx="85916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Return records which satisfies both the conditions.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8" name="Google Shape;468;p46"/>
          <p:cNvPicPr preferRelativeResize="0"/>
          <p:nvPr/>
        </p:nvPicPr>
        <p:blipFill rotWithShape="1">
          <a:blip r:embed="rId3">
            <a:alphaModFix/>
          </a:blip>
          <a:srcRect b="54239" l="21781" r="8535" t="26003"/>
          <a:stretch/>
        </p:blipFill>
        <p:spPr>
          <a:xfrm>
            <a:off x="418170" y="2571750"/>
            <a:ext cx="8307659" cy="180672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7"/>
          <p:cNvSpPr txBox="1"/>
          <p:nvPr>
            <p:ph type="title"/>
          </p:nvPr>
        </p:nvSpPr>
        <p:spPr>
          <a:xfrm>
            <a:off x="362607" y="152558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OR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475" name="Google Shape;475;p47"/>
          <p:cNvSpPr txBox="1"/>
          <p:nvPr>
            <p:ph idx="1" type="body"/>
          </p:nvPr>
        </p:nvSpPr>
        <p:spPr>
          <a:xfrm>
            <a:off x="362607" y="1438086"/>
            <a:ext cx="8148347" cy="8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SELECT  *   FROM  </a:t>
            </a:r>
            <a:r>
              <a:rPr lang="en-US" sz="1600">
                <a:solidFill>
                  <a:srgbClr val="7F7F7F"/>
                </a:solidFill>
              </a:rPr>
              <a:t>&lt; table name &gt; where &lt;condition 1&gt; OR &lt;condition 2&gt; 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476" name="Google Shape;476;p47"/>
          <p:cNvSpPr txBox="1"/>
          <p:nvPr/>
        </p:nvSpPr>
        <p:spPr>
          <a:xfrm>
            <a:off x="362607" y="779262"/>
            <a:ext cx="85916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Return records which satisfies either of the conditions.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7" name="Google Shape;477;p47"/>
          <p:cNvPicPr preferRelativeResize="0"/>
          <p:nvPr/>
        </p:nvPicPr>
        <p:blipFill rotWithShape="1">
          <a:blip r:embed="rId3">
            <a:alphaModFix/>
          </a:blip>
          <a:srcRect b="52295" l="22195" r="12072" t="27949"/>
          <a:stretch/>
        </p:blipFill>
        <p:spPr>
          <a:xfrm>
            <a:off x="362607" y="2582480"/>
            <a:ext cx="7933900" cy="167728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8"/>
          <p:cNvSpPr txBox="1"/>
          <p:nvPr>
            <p:ph type="title"/>
          </p:nvPr>
        </p:nvSpPr>
        <p:spPr>
          <a:xfrm>
            <a:off x="362607" y="141841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NOT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484" name="Google Shape;484;p48"/>
          <p:cNvSpPr txBox="1"/>
          <p:nvPr>
            <p:ph idx="1" type="body"/>
          </p:nvPr>
        </p:nvSpPr>
        <p:spPr>
          <a:xfrm>
            <a:off x="362607" y="1540519"/>
            <a:ext cx="6721365" cy="8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595959"/>
                </a:solidFill>
              </a:rPr>
              <a:t>SELECT</a:t>
            </a:r>
            <a:r>
              <a:rPr lang="en-US" sz="1600">
                <a:solidFill>
                  <a:srgbClr val="595959"/>
                </a:solidFill>
              </a:rPr>
              <a:t>  *   </a:t>
            </a:r>
            <a:r>
              <a:rPr b="1" lang="en-US" sz="1600">
                <a:solidFill>
                  <a:srgbClr val="595959"/>
                </a:solidFill>
              </a:rPr>
              <a:t>FROM</a:t>
            </a:r>
            <a:r>
              <a:rPr lang="en-US" sz="1600">
                <a:solidFill>
                  <a:srgbClr val="595959"/>
                </a:solidFill>
              </a:rPr>
              <a:t>  &lt; table name &gt; </a:t>
            </a:r>
            <a:r>
              <a:rPr b="1" lang="en-US" sz="1600">
                <a:solidFill>
                  <a:srgbClr val="595959"/>
                </a:solidFill>
              </a:rPr>
              <a:t>where not </a:t>
            </a:r>
            <a:r>
              <a:rPr lang="en-US" sz="1600">
                <a:solidFill>
                  <a:srgbClr val="595959"/>
                </a:solidFill>
              </a:rPr>
              <a:t>&lt;condition &gt; :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sp>
        <p:nvSpPr>
          <p:cNvPr id="485" name="Google Shape;485;p48"/>
          <p:cNvSpPr txBox="1"/>
          <p:nvPr/>
        </p:nvSpPr>
        <p:spPr>
          <a:xfrm>
            <a:off x="362607" y="779262"/>
            <a:ext cx="85916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Return records if condition is true.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6" name="Google Shape;486;p48"/>
          <p:cNvPicPr preferRelativeResize="0"/>
          <p:nvPr/>
        </p:nvPicPr>
        <p:blipFill rotWithShape="1">
          <a:blip r:embed="rId3">
            <a:alphaModFix/>
          </a:blip>
          <a:srcRect b="37904" l="22411" r="26159" t="40537"/>
          <a:stretch/>
        </p:blipFill>
        <p:spPr>
          <a:xfrm>
            <a:off x="362607" y="2595461"/>
            <a:ext cx="7777783" cy="176877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9"/>
          <p:cNvSpPr txBox="1"/>
          <p:nvPr>
            <p:ph type="title"/>
          </p:nvPr>
        </p:nvSpPr>
        <p:spPr>
          <a:xfrm>
            <a:off x="362607" y="187863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ORDER BY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493" name="Google Shape;493;p49"/>
          <p:cNvSpPr txBox="1"/>
          <p:nvPr>
            <p:ph idx="1" type="body"/>
          </p:nvPr>
        </p:nvSpPr>
        <p:spPr>
          <a:xfrm>
            <a:off x="362607" y="1412294"/>
            <a:ext cx="8039521" cy="8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SELECT  *   FROM  </a:t>
            </a:r>
            <a:r>
              <a:rPr lang="en-US" sz="1600">
                <a:solidFill>
                  <a:srgbClr val="7F7F7F"/>
                </a:solidFill>
              </a:rPr>
              <a:t>&lt; table name &gt; where  &lt;condition &gt; order by &lt;column&gt; asc/desc :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7F7F7F"/>
              </a:solidFill>
            </a:endParaRPr>
          </a:p>
        </p:txBody>
      </p:sp>
      <p:sp>
        <p:nvSpPr>
          <p:cNvPr id="494" name="Google Shape;494;p49"/>
          <p:cNvSpPr txBox="1"/>
          <p:nvPr/>
        </p:nvSpPr>
        <p:spPr>
          <a:xfrm>
            <a:off x="362607" y="779262"/>
            <a:ext cx="85916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Order by keyword is used to sort the records in Ascending or descending order.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5" name="Google Shape;495;p49"/>
          <p:cNvPicPr preferRelativeResize="0"/>
          <p:nvPr/>
        </p:nvPicPr>
        <p:blipFill rotWithShape="1">
          <a:blip r:embed="rId3">
            <a:alphaModFix/>
          </a:blip>
          <a:srcRect b="52086" l="22439" r="11830" t="28157"/>
          <a:stretch/>
        </p:blipFill>
        <p:spPr>
          <a:xfrm>
            <a:off x="462968" y="2692577"/>
            <a:ext cx="8039520" cy="1522584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0"/>
          <p:cNvSpPr txBox="1"/>
          <p:nvPr>
            <p:ph type="title"/>
          </p:nvPr>
        </p:nvSpPr>
        <p:spPr>
          <a:xfrm>
            <a:off x="362607" y="124991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IS NULL/IS NOT NULL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502" name="Google Shape;502;p50"/>
          <p:cNvSpPr txBox="1"/>
          <p:nvPr>
            <p:ph idx="1" type="body"/>
          </p:nvPr>
        </p:nvSpPr>
        <p:spPr>
          <a:xfrm>
            <a:off x="362607" y="1610259"/>
            <a:ext cx="8039521" cy="8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SELECT  *   FROM  </a:t>
            </a:r>
            <a:r>
              <a:rPr lang="en-US" sz="1600">
                <a:solidFill>
                  <a:srgbClr val="7F7F7F"/>
                </a:solidFill>
              </a:rPr>
              <a:t>&lt; table name &gt; where  &lt;column1 &gt;  is null / not null :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503" name="Google Shape;503;p50"/>
          <p:cNvSpPr txBox="1"/>
          <p:nvPr/>
        </p:nvSpPr>
        <p:spPr>
          <a:xfrm>
            <a:off x="362607" y="779262"/>
            <a:ext cx="85916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Is null / Is not null are used to check whether null values exists in the table or not.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4" name="Google Shape;504;p50"/>
          <p:cNvPicPr preferRelativeResize="0"/>
          <p:nvPr/>
        </p:nvPicPr>
        <p:blipFill rotWithShape="1">
          <a:blip r:embed="rId3">
            <a:alphaModFix/>
          </a:blip>
          <a:srcRect b="54907" l="22561" r="34146" t="29475"/>
          <a:stretch/>
        </p:blipFill>
        <p:spPr>
          <a:xfrm>
            <a:off x="485842" y="2695586"/>
            <a:ext cx="7531885" cy="118852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1"/>
          <p:cNvSpPr txBox="1"/>
          <p:nvPr>
            <p:ph type="title"/>
          </p:nvPr>
        </p:nvSpPr>
        <p:spPr>
          <a:xfrm>
            <a:off x="362607" y="12879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LIMIT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511" name="Google Shape;511;p51"/>
          <p:cNvSpPr txBox="1"/>
          <p:nvPr>
            <p:ph idx="1" type="body"/>
          </p:nvPr>
        </p:nvSpPr>
        <p:spPr>
          <a:xfrm>
            <a:off x="362607" y="1476938"/>
            <a:ext cx="8039521" cy="8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SELECT  *   FROM  </a:t>
            </a:r>
            <a:r>
              <a:rPr lang="en-US" sz="1600">
                <a:solidFill>
                  <a:srgbClr val="7F7F7F"/>
                </a:solidFill>
              </a:rPr>
              <a:t>&lt; table name &gt; WHERE &lt;condition&gt; LIMIT &lt;value&gt; :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512" name="Google Shape;512;p51"/>
          <p:cNvSpPr txBox="1"/>
          <p:nvPr/>
        </p:nvSpPr>
        <p:spPr>
          <a:xfrm>
            <a:off x="362607" y="779262"/>
            <a:ext cx="85916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It is used to return the specified number of records.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3" name="Google Shape;513;p51"/>
          <p:cNvPicPr preferRelativeResize="0"/>
          <p:nvPr/>
        </p:nvPicPr>
        <p:blipFill rotWithShape="1">
          <a:blip r:embed="rId3">
            <a:alphaModFix/>
          </a:blip>
          <a:srcRect b="61915" l="21830" r="17073" t="26826"/>
          <a:stretch/>
        </p:blipFill>
        <p:spPr>
          <a:xfrm>
            <a:off x="362607" y="2748166"/>
            <a:ext cx="8298361" cy="89182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2"/>
          <p:cNvSpPr txBox="1"/>
          <p:nvPr>
            <p:ph type="title"/>
          </p:nvPr>
        </p:nvSpPr>
        <p:spPr>
          <a:xfrm>
            <a:off x="362607" y="187863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IN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520" name="Google Shape;520;p52"/>
          <p:cNvSpPr txBox="1"/>
          <p:nvPr>
            <p:ph idx="1" type="body"/>
          </p:nvPr>
        </p:nvSpPr>
        <p:spPr>
          <a:xfrm>
            <a:off x="362607" y="1679923"/>
            <a:ext cx="8039521" cy="8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  *   FROM  </a:t>
            </a:r>
            <a:r>
              <a:rPr lang="en-US" sz="1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&lt; table name &gt; WHERE &lt;column1&gt; IN  (val1 ,val2,val3) :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52"/>
          <p:cNvSpPr txBox="1"/>
          <p:nvPr/>
        </p:nvSpPr>
        <p:spPr>
          <a:xfrm>
            <a:off x="362607" y="848926"/>
            <a:ext cx="85916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It is used to return records by specifying multiple conditions.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2" name="Google Shape;522;p52"/>
          <p:cNvPicPr preferRelativeResize="0"/>
          <p:nvPr/>
        </p:nvPicPr>
        <p:blipFill rotWithShape="1">
          <a:blip r:embed="rId3">
            <a:alphaModFix/>
          </a:blip>
          <a:srcRect b="59897" l="22073" r="19756" t="27739"/>
          <a:stretch/>
        </p:blipFill>
        <p:spPr>
          <a:xfrm>
            <a:off x="454738" y="2840745"/>
            <a:ext cx="8499481" cy="101566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3"/>
          <p:cNvSpPr txBox="1"/>
          <p:nvPr>
            <p:ph type="title"/>
          </p:nvPr>
        </p:nvSpPr>
        <p:spPr>
          <a:xfrm>
            <a:off x="362607" y="196477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BETWEEN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529" name="Google Shape;529;p53"/>
          <p:cNvSpPr txBox="1"/>
          <p:nvPr>
            <p:ph idx="1" type="body"/>
          </p:nvPr>
        </p:nvSpPr>
        <p:spPr>
          <a:xfrm>
            <a:off x="362607" y="1412056"/>
            <a:ext cx="8229153" cy="8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SELECT  *   FROM  </a:t>
            </a:r>
            <a:r>
              <a:rPr lang="en-US" sz="1600">
                <a:solidFill>
                  <a:srgbClr val="7F7F7F"/>
                </a:solidFill>
              </a:rPr>
              <a:t>&lt; table name &gt; WHERE &lt;column1&gt;  BETWEEN &lt;val1&gt; AND &lt;val2A&gt;  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530" name="Google Shape;530;p53"/>
          <p:cNvSpPr txBox="1"/>
          <p:nvPr/>
        </p:nvSpPr>
        <p:spPr>
          <a:xfrm>
            <a:off x="362607" y="779262"/>
            <a:ext cx="85916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It is used to return records within a certain range. It can be values ,dates or text.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1" name="Google Shape;531;p53"/>
          <p:cNvPicPr preferRelativeResize="0"/>
          <p:nvPr/>
        </p:nvPicPr>
        <p:blipFill rotWithShape="1">
          <a:blip r:embed="rId3">
            <a:alphaModFix/>
          </a:blip>
          <a:srcRect b="60982" l="22439" r="15852" t="27442"/>
          <a:stretch/>
        </p:blipFill>
        <p:spPr>
          <a:xfrm>
            <a:off x="468351" y="2639094"/>
            <a:ext cx="8123409" cy="123037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4"/>
          <p:cNvSpPr txBox="1"/>
          <p:nvPr>
            <p:ph type="title"/>
          </p:nvPr>
        </p:nvSpPr>
        <p:spPr>
          <a:xfrm>
            <a:off x="362606" y="88105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LIKE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538" name="Google Shape;538;p54"/>
          <p:cNvSpPr txBox="1"/>
          <p:nvPr/>
        </p:nvSpPr>
        <p:spPr>
          <a:xfrm>
            <a:off x="362606" y="779262"/>
            <a:ext cx="859220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It is used to return records based on the pattern.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  *   FROM  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&lt; table name &gt; WHERE &lt;column1&gt; LIKE &lt;PATTERN&gt; 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9" name="Google Shape;539;p54"/>
          <p:cNvPicPr preferRelativeResize="0"/>
          <p:nvPr/>
        </p:nvPicPr>
        <p:blipFill rotWithShape="1">
          <a:blip r:embed="rId3">
            <a:alphaModFix/>
          </a:blip>
          <a:srcRect b="51940" l="22317" r="34878" t="29258"/>
          <a:stretch/>
        </p:blipFill>
        <p:spPr>
          <a:xfrm>
            <a:off x="362606" y="2571750"/>
            <a:ext cx="8156926" cy="10858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5"/>
          <p:cNvSpPr txBox="1"/>
          <p:nvPr>
            <p:ph type="title"/>
          </p:nvPr>
        </p:nvSpPr>
        <p:spPr>
          <a:xfrm>
            <a:off x="481360" y="11661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7F7F7F"/>
                </a:solidFill>
              </a:rPr>
              <a:t>LIKE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546" name="Google Shape;546;p55"/>
          <p:cNvSpPr txBox="1"/>
          <p:nvPr>
            <p:ph idx="1" type="body"/>
          </p:nvPr>
        </p:nvSpPr>
        <p:spPr>
          <a:xfrm>
            <a:off x="362607" y="1056708"/>
            <a:ext cx="8039521" cy="30300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6679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r>
              <a:rPr b="1" lang="en-US" sz="16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🡪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It represents zero ,one or  multiple characters.</a:t>
            </a:r>
            <a:endParaRPr/>
          </a:p>
          <a:p>
            <a:pPr indent="0" lvl="0" marL="106679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_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        🡪 It is used represent one or single character.</a:t>
            </a:r>
            <a:endParaRPr/>
          </a:p>
          <a:p>
            <a:pPr indent="0" lvl="0" marL="106679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'a%’      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🡪 It returns values that start with a .</a:t>
            </a:r>
            <a:endParaRPr/>
          </a:p>
          <a:p>
            <a:pPr indent="0" lvl="0" marL="106679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'%a’      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🡪 It returns values that end with a .</a:t>
            </a:r>
            <a:endParaRPr/>
          </a:p>
          <a:p>
            <a:pPr indent="0" lvl="0" marL="106679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% or % 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🡪 It returns values that have or in any position .</a:t>
            </a:r>
            <a:endParaRPr/>
          </a:p>
          <a:p>
            <a:pPr indent="0" lvl="0" marL="106679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 %b    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🡪 It returns values that start with a and end with b .</a:t>
            </a:r>
            <a:endParaRPr/>
          </a:p>
          <a:p>
            <a:pPr indent="0" lvl="0" marL="106679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'a_’        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🡪  It returns values that start with a and are at least 2 characters in   length.</a:t>
            </a:r>
            <a:endParaRPr/>
          </a:p>
          <a:p>
            <a:pPr indent="0" lvl="0" marL="106679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‘_s’        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🡪 It returns values that has s in the second position. </a:t>
            </a:r>
            <a:endParaRPr/>
          </a:p>
          <a:p>
            <a:pPr indent="0" lvl="0" marL="106679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6"/>
          <p:cNvSpPr txBox="1"/>
          <p:nvPr>
            <p:ph idx="1" type="body"/>
          </p:nvPr>
        </p:nvSpPr>
        <p:spPr>
          <a:xfrm>
            <a:off x="316118" y="1282210"/>
            <a:ext cx="8253855" cy="3207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595959"/>
                </a:solidFill>
              </a:rPr>
              <a:t>SQL aggregate functions are used to perform the calculations on multiple rows of a single column and returns a single value.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595959"/>
                </a:solidFill>
              </a:rPr>
              <a:t>TYPES OF AGGREGATE FUNCTIONS ARE: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Count()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Sum()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Avg()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Min()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Max()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sp>
        <p:nvSpPr>
          <p:cNvPr id="553" name="Google Shape;553;p56"/>
          <p:cNvSpPr txBox="1"/>
          <p:nvPr/>
        </p:nvSpPr>
        <p:spPr>
          <a:xfrm>
            <a:off x="316118" y="68788"/>
            <a:ext cx="663566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AGGREGATE FUNCTIONS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7"/>
          <p:cNvSpPr txBox="1"/>
          <p:nvPr>
            <p:ph idx="1" type="body"/>
          </p:nvPr>
        </p:nvSpPr>
        <p:spPr>
          <a:xfrm>
            <a:off x="316118" y="1604412"/>
            <a:ext cx="8253855" cy="804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SELECT</a:t>
            </a:r>
            <a:r>
              <a:rPr lang="en-US" sz="1600">
                <a:solidFill>
                  <a:srgbClr val="7F7F7F"/>
                </a:solidFill>
              </a:rPr>
              <a:t> COUNT(*) </a:t>
            </a:r>
            <a:r>
              <a:rPr b="1" lang="en-US" sz="1600">
                <a:solidFill>
                  <a:srgbClr val="7F7F7F"/>
                </a:solidFill>
              </a:rPr>
              <a:t>FROM</a:t>
            </a:r>
            <a:r>
              <a:rPr lang="en-US" sz="1600">
                <a:solidFill>
                  <a:srgbClr val="7F7F7F"/>
                </a:solidFill>
              </a:rPr>
              <a:t> table_name </a:t>
            </a:r>
            <a:r>
              <a:rPr b="1" lang="en-US" sz="1600">
                <a:solidFill>
                  <a:srgbClr val="7F7F7F"/>
                </a:solidFill>
              </a:rPr>
              <a:t>WHERE</a:t>
            </a:r>
            <a:r>
              <a:rPr lang="en-US" sz="1600">
                <a:solidFill>
                  <a:srgbClr val="7F7F7F"/>
                </a:solidFill>
              </a:rPr>
              <a:t> &lt;condition&gt;;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SELECT </a:t>
            </a:r>
            <a:r>
              <a:rPr lang="en-US" sz="1600">
                <a:solidFill>
                  <a:srgbClr val="7F7F7F"/>
                </a:solidFill>
              </a:rPr>
              <a:t>COUNT(column1) </a:t>
            </a:r>
            <a:r>
              <a:rPr b="1" lang="en-US" sz="1600">
                <a:solidFill>
                  <a:srgbClr val="7F7F7F"/>
                </a:solidFill>
              </a:rPr>
              <a:t>FROM</a:t>
            </a:r>
            <a:r>
              <a:rPr lang="en-US" sz="1600">
                <a:solidFill>
                  <a:srgbClr val="7F7F7F"/>
                </a:solidFill>
              </a:rPr>
              <a:t> table_name </a:t>
            </a:r>
            <a:r>
              <a:rPr b="1" lang="en-US" sz="1600">
                <a:solidFill>
                  <a:srgbClr val="7F7F7F"/>
                </a:solidFill>
              </a:rPr>
              <a:t>WHERE</a:t>
            </a:r>
            <a:r>
              <a:rPr lang="en-US" sz="1600">
                <a:solidFill>
                  <a:srgbClr val="7F7F7F"/>
                </a:solidFill>
              </a:rPr>
              <a:t> &lt;condition&gt;;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560" name="Google Shape;560;p57"/>
          <p:cNvSpPr txBox="1"/>
          <p:nvPr/>
        </p:nvSpPr>
        <p:spPr>
          <a:xfrm>
            <a:off x="316118" y="88914"/>
            <a:ext cx="24501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COUNT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57"/>
          <p:cNvSpPr txBox="1"/>
          <p:nvPr/>
        </p:nvSpPr>
        <p:spPr>
          <a:xfrm>
            <a:off x="1107631" y="964259"/>
            <a:ext cx="667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Used to return number of rows in a 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2" name="Google Shape;562;p57"/>
          <p:cNvPicPr preferRelativeResize="0"/>
          <p:nvPr/>
        </p:nvPicPr>
        <p:blipFill rotWithShape="1">
          <a:blip r:embed="rId3">
            <a:alphaModFix/>
          </a:blip>
          <a:srcRect b="51654" l="22073" r="23048" t="27957"/>
          <a:stretch/>
        </p:blipFill>
        <p:spPr>
          <a:xfrm>
            <a:off x="316118" y="2582901"/>
            <a:ext cx="7895065" cy="166452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8"/>
          <p:cNvSpPr txBox="1"/>
          <p:nvPr>
            <p:ph idx="1" type="body"/>
          </p:nvPr>
        </p:nvSpPr>
        <p:spPr>
          <a:xfrm>
            <a:off x="251843" y="1714646"/>
            <a:ext cx="8640313" cy="857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SELECT</a:t>
            </a:r>
            <a:r>
              <a:rPr lang="en-US" sz="1600">
                <a:solidFill>
                  <a:srgbClr val="7F7F7F"/>
                </a:solidFill>
              </a:rPr>
              <a:t> AVG(column_name) </a:t>
            </a:r>
            <a:r>
              <a:rPr b="1" lang="en-US" sz="1600">
                <a:solidFill>
                  <a:srgbClr val="7F7F7F"/>
                </a:solidFill>
              </a:rPr>
              <a:t>FROM </a:t>
            </a:r>
            <a:r>
              <a:rPr lang="en-US" sz="1600">
                <a:solidFill>
                  <a:srgbClr val="7F7F7F"/>
                </a:solidFill>
              </a:rPr>
              <a:t>table_name </a:t>
            </a:r>
            <a:r>
              <a:rPr b="1" lang="en-US" sz="1600">
                <a:solidFill>
                  <a:srgbClr val="7F7F7F"/>
                </a:solidFill>
              </a:rPr>
              <a:t>WHERE</a:t>
            </a:r>
            <a:r>
              <a:rPr lang="en-US" sz="1600">
                <a:solidFill>
                  <a:srgbClr val="7F7F7F"/>
                </a:solidFill>
              </a:rPr>
              <a:t>&lt;condition&gt;;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569" name="Google Shape;569;p58"/>
          <p:cNvSpPr txBox="1"/>
          <p:nvPr/>
        </p:nvSpPr>
        <p:spPr>
          <a:xfrm>
            <a:off x="316118" y="117539"/>
            <a:ext cx="24501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AVG()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58"/>
          <p:cNvSpPr txBox="1"/>
          <p:nvPr/>
        </p:nvSpPr>
        <p:spPr>
          <a:xfrm>
            <a:off x="251843" y="1180584"/>
            <a:ext cx="7186651" cy="349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Used to find average value of numeric column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1" name="Google Shape;571;p58"/>
          <p:cNvPicPr preferRelativeResize="0"/>
          <p:nvPr/>
        </p:nvPicPr>
        <p:blipFill rotWithShape="1">
          <a:blip r:embed="rId3">
            <a:alphaModFix/>
          </a:blip>
          <a:srcRect b="61102" l="25121" r="22561" t="29595"/>
          <a:stretch/>
        </p:blipFill>
        <p:spPr>
          <a:xfrm>
            <a:off x="319058" y="3050020"/>
            <a:ext cx="8573098" cy="85710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9"/>
          <p:cNvSpPr txBox="1"/>
          <p:nvPr>
            <p:ph idx="1" type="body"/>
          </p:nvPr>
        </p:nvSpPr>
        <p:spPr>
          <a:xfrm>
            <a:off x="316118" y="1778098"/>
            <a:ext cx="8827882" cy="478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595959"/>
                </a:solidFill>
              </a:rPr>
              <a:t>SELECT </a:t>
            </a:r>
            <a:r>
              <a:rPr lang="en-US" sz="1600">
                <a:solidFill>
                  <a:srgbClr val="595959"/>
                </a:solidFill>
              </a:rPr>
              <a:t>SUM(column_name) </a:t>
            </a:r>
            <a:r>
              <a:rPr b="1" lang="en-US" sz="1600">
                <a:solidFill>
                  <a:srgbClr val="595959"/>
                </a:solidFill>
              </a:rPr>
              <a:t>FROM</a:t>
            </a:r>
            <a:r>
              <a:rPr lang="en-US" sz="1600">
                <a:solidFill>
                  <a:srgbClr val="595959"/>
                </a:solidFill>
              </a:rPr>
              <a:t> &lt;table_name&gt; </a:t>
            </a:r>
            <a:r>
              <a:rPr b="1" lang="en-US" sz="1600">
                <a:solidFill>
                  <a:srgbClr val="595959"/>
                </a:solidFill>
              </a:rPr>
              <a:t>WHERE</a:t>
            </a:r>
            <a:r>
              <a:rPr lang="en-US" sz="1600">
                <a:solidFill>
                  <a:srgbClr val="595959"/>
                </a:solidFill>
              </a:rPr>
              <a:t> &lt;condition&gt;;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sp>
        <p:nvSpPr>
          <p:cNvPr id="578" name="Google Shape;578;p59"/>
          <p:cNvSpPr txBox="1"/>
          <p:nvPr/>
        </p:nvSpPr>
        <p:spPr>
          <a:xfrm>
            <a:off x="316118" y="102906"/>
            <a:ext cx="24501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SUM()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59"/>
          <p:cNvSpPr txBox="1"/>
          <p:nvPr/>
        </p:nvSpPr>
        <p:spPr>
          <a:xfrm>
            <a:off x="316118" y="1218832"/>
            <a:ext cx="4572000" cy="349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Used to find total sum of column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0" name="Google Shape;580;p59"/>
          <p:cNvPicPr preferRelativeResize="0"/>
          <p:nvPr/>
        </p:nvPicPr>
        <p:blipFill rotWithShape="1">
          <a:blip r:embed="rId3">
            <a:alphaModFix/>
          </a:blip>
          <a:srcRect b="47532" l="24878" r="21708" t="40971"/>
          <a:stretch/>
        </p:blipFill>
        <p:spPr>
          <a:xfrm>
            <a:off x="316118" y="2938383"/>
            <a:ext cx="8150803" cy="98628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0"/>
          <p:cNvSpPr txBox="1"/>
          <p:nvPr>
            <p:ph idx="1" type="body"/>
          </p:nvPr>
        </p:nvSpPr>
        <p:spPr>
          <a:xfrm>
            <a:off x="316118" y="1796437"/>
            <a:ext cx="868720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SELECT</a:t>
            </a:r>
            <a:r>
              <a:rPr lang="en-US" sz="1600">
                <a:solidFill>
                  <a:srgbClr val="7F7F7F"/>
                </a:solidFill>
              </a:rPr>
              <a:t> MIN(column_name) </a:t>
            </a:r>
            <a:r>
              <a:rPr b="1" lang="en-US" sz="1600">
                <a:solidFill>
                  <a:srgbClr val="7F7F7F"/>
                </a:solidFill>
              </a:rPr>
              <a:t>FROM</a:t>
            </a:r>
            <a:r>
              <a:rPr lang="en-US" sz="1600">
                <a:solidFill>
                  <a:srgbClr val="7F7F7F"/>
                </a:solidFill>
              </a:rPr>
              <a:t> table_name </a:t>
            </a:r>
            <a:r>
              <a:rPr b="1" lang="en-US" sz="1600">
                <a:solidFill>
                  <a:srgbClr val="7F7F7F"/>
                </a:solidFill>
              </a:rPr>
              <a:t>WHERE</a:t>
            </a:r>
            <a:r>
              <a:rPr lang="en-US" sz="1600">
                <a:solidFill>
                  <a:srgbClr val="7F7F7F"/>
                </a:solidFill>
              </a:rPr>
              <a:t> &lt;condition&gt;;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587" name="Google Shape;587;p60"/>
          <p:cNvSpPr txBox="1"/>
          <p:nvPr/>
        </p:nvSpPr>
        <p:spPr>
          <a:xfrm>
            <a:off x="316118" y="124540"/>
            <a:ext cx="24501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MIN()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60"/>
          <p:cNvSpPr txBox="1"/>
          <p:nvPr/>
        </p:nvSpPr>
        <p:spPr>
          <a:xfrm>
            <a:off x="316118" y="1236374"/>
            <a:ext cx="6870128" cy="349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Used to find smallest value in selected column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9" name="Google Shape;589;p60"/>
          <p:cNvPicPr preferRelativeResize="0"/>
          <p:nvPr/>
        </p:nvPicPr>
        <p:blipFill rotWithShape="1">
          <a:blip r:embed="rId3">
            <a:alphaModFix/>
          </a:blip>
          <a:srcRect b="24025" l="23293" r="21410" t="64831"/>
          <a:stretch/>
        </p:blipFill>
        <p:spPr>
          <a:xfrm>
            <a:off x="401443" y="2590839"/>
            <a:ext cx="7275457" cy="114483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1"/>
          <p:cNvSpPr txBox="1"/>
          <p:nvPr>
            <p:ph idx="1" type="body"/>
          </p:nvPr>
        </p:nvSpPr>
        <p:spPr>
          <a:xfrm>
            <a:off x="316118" y="1690145"/>
            <a:ext cx="8253855" cy="629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SELECT</a:t>
            </a:r>
            <a:r>
              <a:rPr lang="en-US" sz="1600">
                <a:solidFill>
                  <a:srgbClr val="7F7F7F"/>
                </a:solidFill>
              </a:rPr>
              <a:t> MAX(column_name) </a:t>
            </a:r>
            <a:r>
              <a:rPr b="1" lang="en-US" sz="1600">
                <a:solidFill>
                  <a:srgbClr val="7F7F7F"/>
                </a:solidFill>
              </a:rPr>
              <a:t>FROM</a:t>
            </a:r>
            <a:r>
              <a:rPr lang="en-US" sz="1600">
                <a:solidFill>
                  <a:srgbClr val="7F7F7F"/>
                </a:solidFill>
              </a:rPr>
              <a:t> table_name </a:t>
            </a:r>
            <a:r>
              <a:rPr b="1" lang="en-US" sz="1600">
                <a:solidFill>
                  <a:srgbClr val="7F7F7F"/>
                </a:solidFill>
              </a:rPr>
              <a:t>WHERE &lt;</a:t>
            </a:r>
            <a:r>
              <a:rPr lang="en-US" sz="1600">
                <a:solidFill>
                  <a:srgbClr val="7F7F7F"/>
                </a:solidFill>
              </a:rPr>
              <a:t>condition&gt;;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596" name="Google Shape;596;p61"/>
          <p:cNvSpPr txBox="1"/>
          <p:nvPr/>
        </p:nvSpPr>
        <p:spPr>
          <a:xfrm>
            <a:off x="209240" y="104234"/>
            <a:ext cx="24501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MAX()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61"/>
          <p:cNvSpPr txBox="1"/>
          <p:nvPr/>
        </p:nvSpPr>
        <p:spPr>
          <a:xfrm>
            <a:off x="316118" y="1211873"/>
            <a:ext cx="7749360" cy="349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Used to find largest value in selected column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61"/>
          <p:cNvPicPr preferRelativeResize="0"/>
          <p:nvPr/>
        </p:nvPicPr>
        <p:blipFill rotWithShape="1">
          <a:blip r:embed="rId3">
            <a:alphaModFix/>
          </a:blip>
          <a:srcRect b="35602" l="24756" r="17927" t="54395"/>
          <a:stretch/>
        </p:blipFill>
        <p:spPr>
          <a:xfrm>
            <a:off x="437460" y="2571749"/>
            <a:ext cx="8253854" cy="116390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2"/>
          <p:cNvSpPr txBox="1"/>
          <p:nvPr>
            <p:ph idx="1" type="body"/>
          </p:nvPr>
        </p:nvSpPr>
        <p:spPr>
          <a:xfrm>
            <a:off x="316118" y="1113077"/>
            <a:ext cx="8253855" cy="938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595959"/>
                </a:solidFill>
              </a:rPr>
              <a:t>The group by statement in SQL is used to arrange identical data into groups with the help of aggregate functions.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sp>
        <p:nvSpPr>
          <p:cNvPr id="605" name="Google Shape;605;p62"/>
          <p:cNvSpPr txBox="1"/>
          <p:nvPr/>
        </p:nvSpPr>
        <p:spPr>
          <a:xfrm>
            <a:off x="316118" y="57871"/>
            <a:ext cx="24501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GROUP BY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62"/>
          <p:cNvSpPr txBox="1"/>
          <p:nvPr/>
        </p:nvSpPr>
        <p:spPr>
          <a:xfrm>
            <a:off x="316118" y="2407627"/>
            <a:ext cx="7913481" cy="89127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For eg: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1) What if I want to find total sales in different categories?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2) What if I want to find highest sales for each segment?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3"/>
          <p:cNvSpPr txBox="1"/>
          <p:nvPr>
            <p:ph idx="1" type="body"/>
          </p:nvPr>
        </p:nvSpPr>
        <p:spPr>
          <a:xfrm>
            <a:off x="132837" y="931287"/>
            <a:ext cx="8253855" cy="1050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7F7F7F"/>
                </a:solidFill>
              </a:rPr>
              <a:t>SELECT</a:t>
            </a:r>
            <a:r>
              <a:rPr lang="en-US" sz="1600">
                <a:solidFill>
                  <a:srgbClr val="7F7F7F"/>
                </a:solidFill>
              </a:rPr>
              <a:t> column1 , </a:t>
            </a:r>
            <a:r>
              <a:rPr b="1" lang="en-US" sz="1600">
                <a:solidFill>
                  <a:srgbClr val="7F7F7F"/>
                </a:solidFill>
              </a:rPr>
              <a:t>function</a:t>
            </a:r>
            <a:r>
              <a:rPr lang="en-US" sz="1600">
                <a:solidFill>
                  <a:srgbClr val="7F7F7F"/>
                </a:solidFill>
              </a:rPr>
              <a:t>(column2) </a:t>
            </a:r>
            <a:r>
              <a:rPr b="1" lang="en-US" sz="1600">
                <a:solidFill>
                  <a:srgbClr val="7F7F7F"/>
                </a:solidFill>
              </a:rPr>
              <a:t>FROM </a:t>
            </a:r>
            <a:r>
              <a:rPr lang="en-US" sz="1600">
                <a:solidFill>
                  <a:srgbClr val="7F7F7F"/>
                </a:solidFill>
              </a:rPr>
              <a:t>&lt;table_name&gt;  </a:t>
            </a:r>
            <a:r>
              <a:rPr b="1" lang="en-US" sz="1600">
                <a:solidFill>
                  <a:srgbClr val="7F7F7F"/>
                </a:solidFill>
              </a:rPr>
              <a:t>GROUP BY </a:t>
            </a:r>
            <a:r>
              <a:rPr lang="en-US" sz="1600">
                <a:solidFill>
                  <a:srgbClr val="7F7F7F"/>
                </a:solidFill>
              </a:rPr>
              <a:t>&lt;column1&gt;  </a:t>
            </a:r>
            <a:r>
              <a:rPr b="1" lang="en-US" sz="1600">
                <a:solidFill>
                  <a:srgbClr val="7F7F7F"/>
                </a:solidFill>
              </a:rPr>
              <a:t>ORDER BY </a:t>
            </a:r>
            <a:r>
              <a:rPr lang="en-US" sz="1600">
                <a:solidFill>
                  <a:srgbClr val="7F7F7F"/>
                </a:solidFill>
              </a:rPr>
              <a:t>&lt;column1&gt;;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613" name="Google Shape;613;p63"/>
          <p:cNvSpPr txBox="1"/>
          <p:nvPr/>
        </p:nvSpPr>
        <p:spPr>
          <a:xfrm>
            <a:off x="351743" y="160166"/>
            <a:ext cx="594400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GROUP BY SINGLE COLUMN 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63"/>
          <p:cNvPicPr preferRelativeResize="0"/>
          <p:nvPr/>
        </p:nvPicPr>
        <p:blipFill rotWithShape="1">
          <a:blip r:embed="rId3">
            <a:alphaModFix/>
          </a:blip>
          <a:srcRect b="43195" l="22560" r="8281" t="30777"/>
          <a:stretch/>
        </p:blipFill>
        <p:spPr>
          <a:xfrm>
            <a:off x="161888" y="1902676"/>
            <a:ext cx="8101166" cy="178837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4"/>
          <p:cNvSpPr txBox="1"/>
          <p:nvPr>
            <p:ph idx="1" type="body"/>
          </p:nvPr>
        </p:nvSpPr>
        <p:spPr>
          <a:xfrm>
            <a:off x="157652" y="814221"/>
            <a:ext cx="8253855" cy="933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595959"/>
                </a:solidFill>
              </a:rPr>
              <a:t>Having clause is used to filter the result obtained by the group by clause based on specific condition.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621" name="Google Shape;621;p64"/>
          <p:cNvSpPr txBox="1"/>
          <p:nvPr/>
        </p:nvSpPr>
        <p:spPr>
          <a:xfrm>
            <a:off x="274883" y="124540"/>
            <a:ext cx="40096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HAVING CLAUSE 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64"/>
          <p:cNvSpPr txBox="1"/>
          <p:nvPr/>
        </p:nvSpPr>
        <p:spPr>
          <a:xfrm>
            <a:off x="157652" y="1710038"/>
            <a:ext cx="7936929" cy="620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column1 ,</a:t>
            </a: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(column2) </a:t>
            </a: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FROM 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&lt;table_name&gt; </a:t>
            </a: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GROUP BY 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&lt;column1 ,column2&gt; </a:t>
            </a: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HAVING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&lt;condition&gt;  </a:t>
            </a: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ORDER BY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&lt;column1, column2&gt;;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3" name="Google Shape;623;p64"/>
          <p:cNvPicPr preferRelativeResize="0"/>
          <p:nvPr/>
        </p:nvPicPr>
        <p:blipFill rotWithShape="1">
          <a:blip r:embed="rId3">
            <a:alphaModFix/>
          </a:blip>
          <a:srcRect b="27654" l="22561" r="8010" t="60276"/>
          <a:stretch/>
        </p:blipFill>
        <p:spPr>
          <a:xfrm>
            <a:off x="274883" y="2525681"/>
            <a:ext cx="7397156" cy="1338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5"/>
          <p:cNvSpPr txBox="1"/>
          <p:nvPr>
            <p:ph idx="1" type="body"/>
          </p:nvPr>
        </p:nvSpPr>
        <p:spPr>
          <a:xfrm>
            <a:off x="157652" y="814221"/>
            <a:ext cx="8253855" cy="2096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595959"/>
                </a:solidFill>
              </a:rPr>
              <a:t>SQL subquery is a query within another SQL query. Subquery is used to fetch data from two tables.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Subquery must be enclosed within parenthesis.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Order by cannot be used in a subquery.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Between operator cannot be used.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A subquery can have only single column in subquery.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sp>
        <p:nvSpPr>
          <p:cNvPr id="630" name="Google Shape;630;p65"/>
          <p:cNvSpPr txBox="1"/>
          <p:nvPr/>
        </p:nvSpPr>
        <p:spPr>
          <a:xfrm>
            <a:off x="274883" y="124540"/>
            <a:ext cx="40096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SUBQUERY 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1" name="Google Shape;631;p65"/>
          <p:cNvPicPr preferRelativeResize="0"/>
          <p:nvPr/>
        </p:nvPicPr>
        <p:blipFill rotWithShape="1">
          <a:blip r:embed="rId3">
            <a:alphaModFix/>
          </a:blip>
          <a:srcRect b="27143" l="24634" r="16707" t="53550"/>
          <a:stretch/>
        </p:blipFill>
        <p:spPr>
          <a:xfrm>
            <a:off x="274883" y="2910469"/>
            <a:ext cx="8367312" cy="141881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6"/>
          <p:cNvSpPr txBox="1"/>
          <p:nvPr/>
        </p:nvSpPr>
        <p:spPr>
          <a:xfrm>
            <a:off x="274883" y="124540"/>
            <a:ext cx="40096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SUBQUERY 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8" name="Google Shape;638;p66"/>
          <p:cNvGraphicFramePr/>
          <p:nvPr/>
        </p:nvGraphicFramePr>
        <p:xfrm>
          <a:off x="274883" y="7969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1197075"/>
                <a:gridCol w="947675"/>
                <a:gridCol w="992650"/>
                <a:gridCol w="535250"/>
                <a:gridCol w="1025900"/>
              </a:tblGrid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Customer_id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f_name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l_name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Robert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Luna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David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Robinson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UK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David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UK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Betty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39" name="Google Shape;639;p66"/>
          <p:cNvGraphicFramePr/>
          <p:nvPr/>
        </p:nvGraphicFramePr>
        <p:xfrm>
          <a:off x="3824868" y="36199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1247450"/>
                <a:gridCol w="897300"/>
                <a:gridCol w="981400"/>
                <a:gridCol w="758275"/>
                <a:gridCol w="1081850"/>
              </a:tblGrid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Customer_id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f_name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l_name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Robert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Luna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David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Robinson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UK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640" name="Google Shape;640;p66"/>
          <p:cNvPicPr preferRelativeResize="0"/>
          <p:nvPr/>
        </p:nvPicPr>
        <p:blipFill rotWithShape="1">
          <a:blip r:embed="rId3">
            <a:alphaModFix/>
          </a:blip>
          <a:srcRect b="26275" l="23901" r="56950" t="52754"/>
          <a:stretch/>
        </p:blipFill>
        <p:spPr>
          <a:xfrm>
            <a:off x="5887843" y="1172350"/>
            <a:ext cx="2587347" cy="1593151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7"/>
          <p:cNvSpPr txBox="1"/>
          <p:nvPr/>
        </p:nvSpPr>
        <p:spPr>
          <a:xfrm>
            <a:off x="274883" y="124540"/>
            <a:ext cx="40096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SUBQUERY 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7" name="Google Shape;647;p67"/>
          <p:cNvGraphicFramePr/>
          <p:nvPr/>
        </p:nvGraphicFramePr>
        <p:xfrm>
          <a:off x="274883" y="8021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1308600"/>
                <a:gridCol w="911425"/>
              </a:tblGrid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Customer_id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f_name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Robert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David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Betty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48" name="Google Shape;648;p67"/>
          <p:cNvGraphicFramePr/>
          <p:nvPr/>
        </p:nvGraphicFramePr>
        <p:xfrm>
          <a:off x="6074258" y="8021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917550"/>
                <a:gridCol w="791725"/>
                <a:gridCol w="1225825"/>
              </a:tblGrid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Order_id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amount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Customer_id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49" name="Google Shape;649;p67"/>
          <p:cNvGraphicFramePr/>
          <p:nvPr/>
        </p:nvGraphicFramePr>
        <p:xfrm>
          <a:off x="3292121" y="2975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1155825"/>
                <a:gridCol w="1263975"/>
              </a:tblGrid>
              <a:tr h="35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customer_id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f_name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Robert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David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650" name="Google Shape;650;p67"/>
          <p:cNvPicPr preferRelativeResize="0"/>
          <p:nvPr/>
        </p:nvPicPr>
        <p:blipFill rotWithShape="1">
          <a:blip r:embed="rId3">
            <a:alphaModFix/>
          </a:blip>
          <a:srcRect b="28010" l="23658" r="45122" t="52754"/>
          <a:stretch/>
        </p:blipFill>
        <p:spPr>
          <a:xfrm>
            <a:off x="2857223" y="1083140"/>
            <a:ext cx="2854713" cy="154261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8"/>
          <p:cNvSpPr txBox="1"/>
          <p:nvPr>
            <p:ph idx="1" type="body"/>
          </p:nvPr>
        </p:nvSpPr>
        <p:spPr>
          <a:xfrm>
            <a:off x="316118" y="1282210"/>
            <a:ext cx="8253855" cy="2961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The group by clause is used with select statement.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Group by is placed before having clause.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Group by clause is placed before order by.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Having clause is placed before order by.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Conditions are specified in having clause.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sp>
        <p:nvSpPr>
          <p:cNvPr id="657" name="Google Shape;657;p68"/>
          <p:cNvSpPr txBox="1"/>
          <p:nvPr/>
        </p:nvSpPr>
        <p:spPr>
          <a:xfrm>
            <a:off x="221115" y="148291"/>
            <a:ext cx="655360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RULES TO USE GROUP BY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9"/>
          <p:cNvSpPr txBox="1"/>
          <p:nvPr>
            <p:ph idx="1" type="body"/>
          </p:nvPr>
        </p:nvSpPr>
        <p:spPr>
          <a:xfrm>
            <a:off x="262111" y="1038940"/>
            <a:ext cx="4931212" cy="353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595959"/>
                </a:solidFill>
              </a:rPr>
              <a:t>SQL Joins are used combine two tables based on common column, and selects records that have matching values in these columns.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1600">
                <a:solidFill>
                  <a:srgbClr val="595959"/>
                </a:solidFill>
              </a:rPr>
              <a:t>Types of Joins in SQL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INNER JOINS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LEFT JOIN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Right join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1600">
                <a:solidFill>
                  <a:srgbClr val="595959"/>
                </a:solidFill>
              </a:rPr>
              <a:t>Full outer join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sp>
        <p:nvSpPr>
          <p:cNvPr id="664" name="Google Shape;664;p69"/>
          <p:cNvSpPr txBox="1"/>
          <p:nvPr/>
        </p:nvSpPr>
        <p:spPr>
          <a:xfrm>
            <a:off x="411121" y="158495"/>
            <a:ext cx="40096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JOINS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QL INNER JOIN Keyword" id="665" name="Google Shape;665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0432" y="811322"/>
            <a:ext cx="1540736" cy="1057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QL LEFT JOIN Keyword" id="666" name="Google Shape;66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2826" y="743270"/>
            <a:ext cx="1459063" cy="1057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QL RIGHT JOIN Keyword" id="667" name="Google Shape;667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4048" y="2153873"/>
            <a:ext cx="1397841" cy="1084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QL FULL OUTER JOIN Keyword" id="668" name="Google Shape;668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94058" y="2082496"/>
            <a:ext cx="1477110" cy="1156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0"/>
          <p:cNvSpPr txBox="1"/>
          <p:nvPr>
            <p:ph idx="1" type="body"/>
          </p:nvPr>
        </p:nvSpPr>
        <p:spPr>
          <a:xfrm>
            <a:off x="316118" y="1282210"/>
            <a:ext cx="4420005" cy="1156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595959"/>
                </a:solidFill>
              </a:rPr>
              <a:t>Inner join return those records which a have matching values in both tables.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sp>
        <p:nvSpPr>
          <p:cNvPr id="675" name="Google Shape;675;p70"/>
          <p:cNvSpPr txBox="1"/>
          <p:nvPr/>
        </p:nvSpPr>
        <p:spPr>
          <a:xfrm>
            <a:off x="316117" y="134727"/>
            <a:ext cx="40096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INNER JOIN 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70"/>
          <p:cNvSpPr txBox="1"/>
          <p:nvPr/>
        </p:nvSpPr>
        <p:spPr>
          <a:xfrm>
            <a:off x="316117" y="3001108"/>
            <a:ext cx="8581698" cy="1077218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&lt;column_names&gt; </a:t>
            </a: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Table1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INNER JOIN </a:t>
            </a: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Table2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Table1.matching_column=Table2.matching_column 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QL INNER JOIN Keyword" id="677" name="Google Shape;67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8882" y="1099623"/>
            <a:ext cx="2098432" cy="1521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2" name="Google Shape;682;p71"/>
          <p:cNvGraphicFramePr/>
          <p:nvPr/>
        </p:nvGraphicFramePr>
        <p:xfrm>
          <a:off x="104605" y="9485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653675"/>
                <a:gridCol w="691375"/>
                <a:gridCol w="769425"/>
                <a:gridCol w="669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8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Steve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1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Helen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E5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D7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83" name="Google Shape;683;p71"/>
          <p:cNvGraphicFramePr/>
          <p:nvPr/>
        </p:nvGraphicFramePr>
        <p:xfrm>
          <a:off x="7437337" y="9671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602700"/>
                <a:gridCol w="802875"/>
              </a:tblGrid>
              <a:tr h="37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8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5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D5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84" name="Google Shape;684;p71"/>
          <p:cNvGraphicFramePr/>
          <p:nvPr/>
        </p:nvGraphicFramePr>
        <p:xfrm>
          <a:off x="3284483" y="28434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685350"/>
                <a:gridCol w="747125"/>
                <a:gridCol w="680225"/>
                <a:gridCol w="624475"/>
                <a:gridCol w="724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8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Steve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Helen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685" name="Google Shape;685;p71"/>
          <p:cNvPicPr preferRelativeResize="0"/>
          <p:nvPr/>
        </p:nvPicPr>
        <p:blipFill rotWithShape="1">
          <a:blip r:embed="rId3">
            <a:alphaModFix/>
          </a:blip>
          <a:srcRect b="55992" l="21707" r="41341" t="28173"/>
          <a:stretch/>
        </p:blipFill>
        <p:spPr>
          <a:xfrm>
            <a:off x="3427904" y="1106209"/>
            <a:ext cx="3296279" cy="1473294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2"/>
          <p:cNvSpPr txBox="1"/>
          <p:nvPr>
            <p:ph idx="1" type="body"/>
          </p:nvPr>
        </p:nvSpPr>
        <p:spPr>
          <a:xfrm>
            <a:off x="316117" y="1126093"/>
            <a:ext cx="4666190" cy="1156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595959"/>
                </a:solidFill>
              </a:rPr>
              <a:t>Left join returns all the records from left table and also matching records from right table.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692" name="Google Shape;692;p72"/>
          <p:cNvSpPr txBox="1"/>
          <p:nvPr/>
        </p:nvSpPr>
        <p:spPr>
          <a:xfrm>
            <a:off x="316117" y="134727"/>
            <a:ext cx="40096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LEFT JOIN 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72"/>
          <p:cNvSpPr txBox="1"/>
          <p:nvPr/>
        </p:nvSpPr>
        <p:spPr>
          <a:xfrm>
            <a:off x="316117" y="3001108"/>
            <a:ext cx="8581698" cy="1077218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&lt;column_names&gt; </a:t>
            </a: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Table1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LEFT JOIN </a:t>
            </a: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Table2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Table1.matching_column=Table2.matching_column 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QL LEFT JOIN Keyword" id="694" name="Google Shape;694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9623" y="761267"/>
            <a:ext cx="190500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9" name="Google Shape;699;p73"/>
          <p:cNvGraphicFramePr/>
          <p:nvPr/>
        </p:nvGraphicFramePr>
        <p:xfrm>
          <a:off x="6735339" y="9462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662150"/>
                <a:gridCol w="1436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8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5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D5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00" name="Google Shape;700;p73"/>
          <p:cNvGraphicFramePr/>
          <p:nvPr/>
        </p:nvGraphicFramePr>
        <p:xfrm>
          <a:off x="2902679" y="29428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576500"/>
                <a:gridCol w="735975"/>
                <a:gridCol w="724825"/>
                <a:gridCol w="780575"/>
                <a:gridCol w="765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empi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8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Steve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Helen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E5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D7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01" name="Google Shape;701;p73"/>
          <p:cNvGraphicFramePr/>
          <p:nvPr/>
        </p:nvGraphicFramePr>
        <p:xfrm>
          <a:off x="104605" y="9485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653675"/>
                <a:gridCol w="691375"/>
                <a:gridCol w="769425"/>
                <a:gridCol w="669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8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Steve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1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Helen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E5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D7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702" name="Google Shape;702;p73"/>
          <p:cNvPicPr preferRelativeResize="0"/>
          <p:nvPr/>
        </p:nvPicPr>
        <p:blipFill rotWithShape="1">
          <a:blip r:embed="rId3">
            <a:alphaModFix/>
          </a:blip>
          <a:srcRect b="23020" l="22438" r="43142" t="58757"/>
          <a:stretch/>
        </p:blipFill>
        <p:spPr>
          <a:xfrm>
            <a:off x="3183673" y="946247"/>
            <a:ext cx="3256157" cy="163811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4"/>
          <p:cNvSpPr txBox="1"/>
          <p:nvPr>
            <p:ph idx="1" type="body"/>
          </p:nvPr>
        </p:nvSpPr>
        <p:spPr>
          <a:xfrm>
            <a:off x="316118" y="1282210"/>
            <a:ext cx="5135113" cy="1156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595959"/>
                </a:solidFill>
              </a:rPr>
              <a:t>Right join returns all the records from right table and also matching records from left table.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sp>
        <p:nvSpPr>
          <p:cNvPr id="709" name="Google Shape;709;p74"/>
          <p:cNvSpPr txBox="1"/>
          <p:nvPr/>
        </p:nvSpPr>
        <p:spPr>
          <a:xfrm>
            <a:off x="197364" y="134727"/>
            <a:ext cx="40096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RIGHT JOIN 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74"/>
          <p:cNvSpPr txBox="1"/>
          <p:nvPr/>
        </p:nvSpPr>
        <p:spPr>
          <a:xfrm>
            <a:off x="316117" y="3001108"/>
            <a:ext cx="8581698" cy="1077218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&lt;column_names&gt; </a:t>
            </a: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Table1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RIGHT JOIN </a:t>
            </a: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Table2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Table1.matching_column=Table2.matching_column 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QL RIGHT JOIN Keyword" id="711" name="Google Shape;711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2667" y="1169742"/>
            <a:ext cx="190500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" name="Google Shape;716;p75"/>
          <p:cNvGraphicFramePr/>
          <p:nvPr/>
        </p:nvGraphicFramePr>
        <p:xfrm>
          <a:off x="185931" y="902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703350"/>
                <a:gridCol w="691375"/>
                <a:gridCol w="702525"/>
                <a:gridCol w="604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8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Steve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1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Helen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E5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D7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17" name="Google Shape;717;p75"/>
          <p:cNvGraphicFramePr/>
          <p:nvPr/>
        </p:nvGraphicFramePr>
        <p:xfrm>
          <a:off x="7317570" y="8684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666700"/>
                <a:gridCol w="802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8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5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D5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18" name="Google Shape;718;p75"/>
          <p:cNvGraphicFramePr/>
          <p:nvPr/>
        </p:nvGraphicFramePr>
        <p:xfrm>
          <a:off x="3297228" y="29229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657075"/>
                <a:gridCol w="802900"/>
                <a:gridCol w="680225"/>
                <a:gridCol w="814050"/>
                <a:gridCol w="669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8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Steve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Helen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D5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719" name="Google Shape;719;p75"/>
          <p:cNvPicPr preferRelativeResize="0"/>
          <p:nvPr/>
        </p:nvPicPr>
        <p:blipFill rotWithShape="1">
          <a:blip r:embed="rId3">
            <a:alphaModFix/>
          </a:blip>
          <a:srcRect b="43290" l="20977" r="39268" t="43290"/>
          <a:stretch/>
        </p:blipFill>
        <p:spPr>
          <a:xfrm>
            <a:off x="3285219" y="1189734"/>
            <a:ext cx="3635297" cy="103706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6"/>
          <p:cNvSpPr txBox="1"/>
          <p:nvPr>
            <p:ph idx="1" type="body"/>
          </p:nvPr>
        </p:nvSpPr>
        <p:spPr>
          <a:xfrm>
            <a:off x="316119" y="1282210"/>
            <a:ext cx="4584128" cy="1156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600">
                <a:solidFill>
                  <a:srgbClr val="595959"/>
                </a:solidFill>
              </a:rPr>
              <a:t>Full outer join returns all the matching records from both the tables.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sp>
        <p:nvSpPr>
          <p:cNvPr id="726" name="Google Shape;726;p76"/>
          <p:cNvSpPr txBox="1"/>
          <p:nvPr/>
        </p:nvSpPr>
        <p:spPr>
          <a:xfrm>
            <a:off x="173613" y="133493"/>
            <a:ext cx="40096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FULL OUTER JOIN 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76"/>
          <p:cNvSpPr txBox="1"/>
          <p:nvPr/>
        </p:nvSpPr>
        <p:spPr>
          <a:xfrm>
            <a:off x="316117" y="2368430"/>
            <a:ext cx="8159464" cy="2062103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&lt;column_names&gt; </a:t>
            </a: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Table1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LEFT JOIN 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Table2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Table1.matching_column=Table2.matching_column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UNION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&lt;column_names&gt; </a:t>
            </a: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Table1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LEFT JOIN 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Table2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Table1.matching_column=Table2.matching_column 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QL FULL OUTER JOIN Keyword" id="728" name="Google Shape;728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1685" y="852787"/>
            <a:ext cx="190500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3" name="Google Shape;733;p77"/>
          <p:cNvGraphicFramePr/>
          <p:nvPr/>
        </p:nvGraphicFramePr>
        <p:xfrm>
          <a:off x="230888" y="8210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683500"/>
                <a:gridCol w="780575"/>
                <a:gridCol w="680225"/>
                <a:gridCol w="635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ename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depid</a:t>
                      </a:r>
                      <a:endParaRPr b="1"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8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Steve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1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Helen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E5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Joe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35000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D7</a:t>
                      </a:r>
                      <a:endParaRPr sz="14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34" name="Google Shape;734;p77"/>
          <p:cNvGraphicFramePr/>
          <p:nvPr/>
        </p:nvGraphicFramePr>
        <p:xfrm>
          <a:off x="7229084" y="8187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632525"/>
                <a:gridCol w="791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F7F7F"/>
                          </a:solidFill>
                        </a:rPr>
                        <a:t>depid</a:t>
                      </a:r>
                      <a:endParaRPr b="1" sz="1200" u="none" cap="none" strike="noStrike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F7F7F"/>
                          </a:solidFill>
                        </a:rPr>
                        <a:t>dname</a:t>
                      </a:r>
                      <a:endParaRPr b="1" sz="1200" u="none" cap="none" strike="noStrike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2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</a:rPr>
                        <a:t>D1</a:t>
                      </a:r>
                      <a:endParaRPr sz="1200" u="none" cap="none" strike="noStrike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</a:rPr>
                        <a:t>IT</a:t>
                      </a:r>
                      <a:endParaRPr sz="1200" u="none" cap="none" strike="noStrike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2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</a:rPr>
                        <a:t>D2</a:t>
                      </a:r>
                      <a:endParaRPr sz="1200" u="none" cap="none" strike="noStrike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</a:rPr>
                        <a:t>HR</a:t>
                      </a:r>
                      <a:endParaRPr sz="1200" u="none" cap="none" strike="noStrike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28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</a:rPr>
                        <a:t>D3</a:t>
                      </a:r>
                      <a:endParaRPr sz="1200" u="none" cap="none" strike="noStrike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</a:rPr>
                        <a:t>Admin</a:t>
                      </a:r>
                      <a:endParaRPr sz="1200" u="none" cap="none" strike="noStrike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25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</a:rPr>
                        <a:t>D4</a:t>
                      </a:r>
                      <a:endParaRPr sz="1200" u="none" cap="none" strike="noStrike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</a:rPr>
                        <a:t>Finance</a:t>
                      </a:r>
                      <a:endParaRPr sz="1200" u="none" cap="none" strike="noStrike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27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</a:rPr>
                        <a:t>D5</a:t>
                      </a:r>
                      <a:endParaRPr sz="1200" u="none" cap="none" strike="noStrike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</a:rPr>
                        <a:t>Sales</a:t>
                      </a:r>
                      <a:endParaRPr sz="1200" u="none" cap="none" strike="noStrike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35" name="Google Shape;735;p77"/>
          <p:cNvGraphicFramePr/>
          <p:nvPr/>
        </p:nvGraphicFramePr>
        <p:xfrm>
          <a:off x="2524605" y="27159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{638527D8-53DD-441C-966B-7EFE04980C48}</a:tableStyleId>
              </a:tblPr>
              <a:tblGrid>
                <a:gridCol w="944100"/>
                <a:gridCol w="1263775"/>
                <a:gridCol w="877200"/>
                <a:gridCol w="951550"/>
                <a:gridCol w="951550"/>
              </a:tblGrid>
              <a:tr h="27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empid</a:t>
                      </a:r>
                      <a:endParaRPr b="1"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ename</a:t>
                      </a:r>
                      <a:endParaRPr b="1"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b="1"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depid</a:t>
                      </a:r>
                      <a:endParaRPr b="1"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dname</a:t>
                      </a:r>
                      <a:endParaRPr b="1"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E1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45000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E2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60000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E3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Steve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73000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E4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Helen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86000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Finance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E5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Joe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35000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D7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D5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200" u="none" cap="none" strike="noStrik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736" name="Google Shape;736;p77"/>
          <p:cNvPicPr preferRelativeResize="0"/>
          <p:nvPr/>
        </p:nvPicPr>
        <p:blipFill rotWithShape="1">
          <a:blip r:embed="rId3">
            <a:alphaModFix/>
          </a:blip>
          <a:srcRect b="25189" l="21707" r="39755" t="44876"/>
          <a:stretch/>
        </p:blipFill>
        <p:spPr>
          <a:xfrm>
            <a:off x="3358063" y="924905"/>
            <a:ext cx="3523786" cy="153887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8"/>
          <p:cNvSpPr txBox="1"/>
          <p:nvPr/>
        </p:nvSpPr>
        <p:spPr>
          <a:xfrm>
            <a:off x="729262" y="49135"/>
            <a:ext cx="338217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SELF JOIN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78"/>
          <p:cNvSpPr txBox="1"/>
          <p:nvPr/>
        </p:nvSpPr>
        <p:spPr>
          <a:xfrm>
            <a:off x="278646" y="999235"/>
            <a:ext cx="5787617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 self join is a regular join which helps you to join a table to itself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column_name(s) </a:t>
            </a: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table1 T1, table T2 </a:t>
            </a: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&lt;condition&gt; ;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Когда использовать Self Join в MySQL и примеры" id="743" name="Google Shape;743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6263" y="903248"/>
            <a:ext cx="2686326" cy="2349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79"/>
          <p:cNvSpPr txBox="1"/>
          <p:nvPr/>
        </p:nvSpPr>
        <p:spPr>
          <a:xfrm>
            <a:off x="729262" y="49135"/>
            <a:ext cx="338217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CROSS JOIN</a:t>
            </a:r>
            <a:endParaRPr b="1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79"/>
          <p:cNvSpPr txBox="1"/>
          <p:nvPr/>
        </p:nvSpPr>
        <p:spPr>
          <a:xfrm>
            <a:off x="367855" y="1010387"/>
            <a:ext cx="578761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 cross join returns all the records from both the tables.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column_name(s) </a:t>
            </a: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&lt;Table 1&gt; </a:t>
            </a:r>
            <a:r>
              <a:rPr b="1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CROSS JOIN </a:t>
            </a:r>
            <a:r>
              <a:rPr b="0" i="0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&lt;Table 2&gt;: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What is the SQL CROSS JOIN?" id="750" name="Google Shape;750;p79"/>
          <p:cNvSpPr/>
          <p:nvPr/>
        </p:nvSpPr>
        <p:spPr>
          <a:xfrm>
            <a:off x="4419600" y="24193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1" name="Google Shape;75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072" y="2122579"/>
            <a:ext cx="4184495" cy="258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80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solidFill>
                  <a:srgbClr val="7F7F7F"/>
                </a:solidFill>
              </a:rPr>
              <a:t>NO SQL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757" name="Google Shape;757;p80"/>
          <p:cNvSpPr txBox="1"/>
          <p:nvPr>
            <p:ph idx="1" type="body"/>
          </p:nvPr>
        </p:nvSpPr>
        <p:spPr>
          <a:xfrm>
            <a:off x="457200" y="1200151"/>
            <a:ext cx="491768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>
                <a:solidFill>
                  <a:srgbClr val="7F7F7F"/>
                </a:solidFill>
              </a:rPr>
              <a:t>No SQL stands for “Not only SQL”.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>
                <a:solidFill>
                  <a:srgbClr val="7F7F7F"/>
                </a:solidFill>
              </a:rPr>
              <a:t>No SQL database is non-relational database management system.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>
                <a:solidFill>
                  <a:srgbClr val="7F7F7F"/>
                </a:solidFill>
              </a:rPr>
              <a:t>No SQL database stores information in JSON documents instead of rows and columns.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>
                <a:solidFill>
                  <a:srgbClr val="7F7F7F"/>
                </a:solidFill>
              </a:rPr>
              <a:t>No SQL databases are flexible ,scalable and capable of rapidly responding to the data management demands of modern businesses.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758" name="Google Shape;758;p80"/>
          <p:cNvSpPr txBox="1"/>
          <p:nvPr>
            <p:ph idx="12" type="sldNum"/>
          </p:nvPr>
        </p:nvSpPr>
        <p:spPr>
          <a:xfrm>
            <a:off x="8458200" y="4850606"/>
            <a:ext cx="5334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QL vs NoSQL database types." id="759" name="Google Shape;759;p80"/>
          <p:cNvPicPr preferRelativeResize="0"/>
          <p:nvPr/>
        </p:nvPicPr>
        <p:blipFill rotWithShape="1">
          <a:blip r:embed="rId3">
            <a:alphaModFix/>
          </a:blip>
          <a:srcRect b="-377" l="31838" r="1968" t="15896"/>
          <a:stretch/>
        </p:blipFill>
        <p:spPr>
          <a:xfrm>
            <a:off x="5513348" y="1200151"/>
            <a:ext cx="3211552" cy="249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81"/>
          <p:cNvSpPr txBox="1"/>
          <p:nvPr>
            <p:ph type="title"/>
          </p:nvPr>
        </p:nvSpPr>
        <p:spPr>
          <a:xfrm>
            <a:off x="702526" y="88106"/>
            <a:ext cx="5754029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solidFill>
                  <a:srgbClr val="7F7F7F"/>
                </a:solidFill>
              </a:rPr>
              <a:t>POPULAR NO SQL DATABASES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765" name="Google Shape;765;p8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>
                <a:solidFill>
                  <a:srgbClr val="7F7F7F"/>
                </a:solidFill>
              </a:rPr>
              <a:t>Document databases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>
                <a:solidFill>
                  <a:srgbClr val="7F7F7F"/>
                </a:solidFill>
              </a:rPr>
              <a:t>Key-value stores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>
                <a:solidFill>
                  <a:srgbClr val="7F7F7F"/>
                </a:solidFill>
              </a:rPr>
              <a:t>Wide-column databases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>
                <a:solidFill>
                  <a:srgbClr val="7F7F7F"/>
                </a:solidFill>
              </a:rPr>
              <a:t>Graph databases</a:t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766" name="Google Shape;766;p81"/>
          <p:cNvSpPr txBox="1"/>
          <p:nvPr>
            <p:ph idx="12" type="sldNum"/>
          </p:nvPr>
        </p:nvSpPr>
        <p:spPr>
          <a:xfrm>
            <a:off x="8458200" y="4850606"/>
            <a:ext cx="5334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Everything you need to know about NoSQL databases - DEV Community 👩‍💻👨‍💻" id="767" name="Google Shape;767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0151" y="944168"/>
            <a:ext cx="3456064" cy="2997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82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solidFill>
                  <a:srgbClr val="7F7F7F"/>
                </a:solidFill>
              </a:rPr>
              <a:t>APPLICATIONS OF NO SQL</a:t>
            </a:r>
            <a:endParaRPr b="1">
              <a:solidFill>
                <a:srgbClr val="7F7F7F"/>
              </a:solidFill>
            </a:endParaRPr>
          </a:p>
        </p:txBody>
      </p:sp>
      <p:sp>
        <p:nvSpPr>
          <p:cNvPr id="773" name="Google Shape;773;p82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>
                <a:solidFill>
                  <a:srgbClr val="7F7F7F"/>
                </a:solidFill>
              </a:rPr>
              <a:t>Support large number of concurrent users.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>
                <a:solidFill>
                  <a:srgbClr val="7F7F7F"/>
                </a:solidFill>
              </a:rPr>
              <a:t>Deliver highly responsive experience to a globally distributed base of users.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>
                <a:solidFill>
                  <a:srgbClr val="7F7F7F"/>
                </a:solidFill>
              </a:rPr>
              <a:t>It can store structured , semi-structure ,unstructured and polymorphic data.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>
                <a:solidFill>
                  <a:srgbClr val="7F7F7F"/>
                </a:solidFill>
              </a:rPr>
              <a:t>No SQL is used for Big data and real-time web apps.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>
                <a:solidFill>
                  <a:srgbClr val="7F7F7F"/>
                </a:solidFill>
              </a:rPr>
              <a:t>Companies like Twitter , Facebook and Google collect terabytes of user data every single day.</a:t>
            </a:r>
            <a:endParaRPr sz="1600">
              <a:solidFill>
                <a:srgbClr val="7F7F7F"/>
              </a:solidFill>
            </a:endParaRPr>
          </a:p>
        </p:txBody>
      </p:sp>
      <p:sp>
        <p:nvSpPr>
          <p:cNvPr id="774" name="Google Shape;774;p82"/>
          <p:cNvSpPr txBox="1"/>
          <p:nvPr>
            <p:ph idx="12" type="sldNum"/>
          </p:nvPr>
        </p:nvSpPr>
        <p:spPr>
          <a:xfrm>
            <a:off x="8458200" y="4850606"/>
            <a:ext cx="5334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7F7F7F"/>
                </a:solidFill>
              </a:rPr>
              <a:t>‹#›</a:t>
            </a:fld>
            <a:endParaRPr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Ashok HOME</dc:creator>
</cp:coreProperties>
</file>